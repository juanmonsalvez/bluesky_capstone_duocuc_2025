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Raleway Thin"/>
      <p:regular r:id="rId17"/>
      <p:bold r:id="rId18"/>
      <p:italic r:id="rId19"/>
      <p:boldItalic r:id="rId20"/>
    </p:embeddedFont>
    <p:embeddedFont>
      <p:font typeface="Barlow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F7p2gxmbfpBX275PMZGWXAyWe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Thin-boldItalic.fntdata"/><Relationship Id="rId22" Type="http://schemas.openxmlformats.org/officeDocument/2006/relationships/font" Target="fonts/BarlowLight-bold.fntdata"/><Relationship Id="rId21" Type="http://schemas.openxmlformats.org/officeDocument/2006/relationships/font" Target="fonts/BarlowLight-regular.fntdata"/><Relationship Id="rId24" Type="http://schemas.openxmlformats.org/officeDocument/2006/relationships/font" Target="fonts/BarlowLight-boldItalic.fntdata"/><Relationship Id="rId23" Type="http://schemas.openxmlformats.org/officeDocument/2006/relationships/font" Target="fonts/Barlow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Thin-regular.fntdata"/><Relationship Id="rId16" Type="http://schemas.openxmlformats.org/officeDocument/2006/relationships/slide" Target="slides/slide12.xml"/><Relationship Id="rId19" Type="http://schemas.openxmlformats.org/officeDocument/2006/relationships/font" Target="fonts/RalewayThin-italic.fntdata"/><Relationship Id="rId18" Type="http://schemas.openxmlformats.org/officeDocument/2006/relationships/font" Target="fonts/RalewayTh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4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4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9" name="Google Shape;19;p15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5" name="Google Shape;25;p16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509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4000"/>
              <a:t>Marketing digital</a:t>
            </a:r>
            <a:endParaRPr/>
          </a:p>
        </p:txBody>
      </p:sp>
      <p:sp>
        <p:nvSpPr>
          <p:cNvPr id="306" name="Google Shape;306;p1"/>
          <p:cNvSpPr/>
          <p:nvPr/>
        </p:nvSpPr>
        <p:spPr>
          <a:xfrm>
            <a:off x="468876" y="2966297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 - Nivel Básico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Objetivo General</a:t>
            </a:r>
            <a:endParaRPr sz="3200"/>
          </a:p>
        </p:txBody>
      </p:sp>
      <p:sp>
        <p:nvSpPr>
          <p:cNvPr id="312" name="Google Shape;312;p2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2100"/>
              <a:t>Desarrollar habilidades prácticas para diseñar, ejecutar y medir estrategias de marketing digital efectivas.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2100"/>
              <a:t>Por ejemplo:</a:t>
            </a:r>
            <a:endParaRPr sz="1900"/>
          </a:p>
          <a:p>
            <a:pPr indent="-3365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▹"/>
            </a:pPr>
            <a:r>
              <a:rPr lang="es-ES" sz="2100"/>
              <a:t>- Crear una estrategia digital para una cafetería local en Instagram y Google Ads.</a:t>
            </a:r>
            <a:endParaRPr sz="1900"/>
          </a:p>
          <a:p>
            <a:pPr indent="-3365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▹"/>
            </a:pPr>
            <a:r>
              <a:rPr lang="es-ES" sz="2100"/>
              <a:t>- Definir KPIs para medir conversiones y tráfico.</a:t>
            </a:r>
            <a:endParaRPr sz="1900"/>
          </a:p>
          <a:p>
            <a:pPr indent="-3365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▹"/>
            </a:pPr>
            <a:r>
              <a:rPr lang="es-ES" sz="2100"/>
              <a:t>- Usar herramientas como GA4, Meta Ads y Canva para optimizar resultados.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2100"/>
              <a:t>El objetivo es que los participantes puedan atraer más clientes, mejorar su presencia online y fidelizar su audiencia.</a:t>
            </a:r>
            <a:endParaRPr sz="2100"/>
          </a:p>
        </p:txBody>
      </p:sp>
      <p:grpSp>
        <p:nvGrpSpPr>
          <p:cNvPr id="313" name="Google Shape;313;p2"/>
          <p:cNvGrpSpPr/>
          <p:nvPr/>
        </p:nvGrpSpPr>
        <p:grpSpPr>
          <a:xfrm>
            <a:off x="8099396" y="3547872"/>
            <a:ext cx="947925" cy="1199754"/>
            <a:chOff x="2012475" y="393272"/>
            <a:chExt cx="4440240" cy="4609126"/>
          </a:xfrm>
        </p:grpSpPr>
        <p:sp>
          <p:nvSpPr>
            <p:cNvPr id="314" name="Google Shape;314;p2"/>
            <p:cNvSpPr/>
            <p:nvPr/>
          </p:nvSpPr>
          <p:spPr>
            <a:xfrm>
              <a:off x="4172687" y="3422228"/>
              <a:ext cx="1096154" cy="631831"/>
            </a:xfrm>
            <a:custGeom>
              <a:rect b="b" l="l" r="r" t="t"/>
              <a:pathLst>
                <a:path extrusionOk="0" h="631831" w="1096154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4213521" y="3398464"/>
              <a:ext cx="1096058" cy="631866"/>
            </a:xfrm>
            <a:custGeom>
              <a:rect b="b" l="l" r="r" t="t"/>
              <a:pathLst>
                <a:path extrusionOk="0" h="631866" w="1096058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5277122" y="3780200"/>
              <a:ext cx="32266" cy="21196"/>
            </a:xfrm>
            <a:custGeom>
              <a:rect b="b" l="l" r="r" t="t"/>
              <a:pathLst>
                <a:path extrusionOk="0" h="21196" w="32266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213559" y="3635813"/>
              <a:ext cx="33123" cy="21387"/>
            </a:xfrm>
            <a:custGeom>
              <a:rect b="b" l="l" r="r" t="t"/>
              <a:pathLst>
                <a:path extrusionOk="0" h="21387" w="33123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213521" y="3377363"/>
              <a:ext cx="1096058" cy="631809"/>
            </a:xfrm>
            <a:custGeom>
              <a:rect b="b" l="l" r="r" t="t"/>
              <a:pathLst>
                <a:path extrusionOk="0" h="631809" w="1096058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526041" y="3091821"/>
              <a:ext cx="783348" cy="688378"/>
            </a:xfrm>
            <a:custGeom>
              <a:rect b="b" l="l" r="r" t="t"/>
              <a:pathLst>
                <a:path extrusionOk="0" h="688378" w="783348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5278931" y="3755961"/>
              <a:ext cx="30363" cy="36025"/>
            </a:xfrm>
            <a:custGeom>
              <a:rect b="b" l="l" r="r" t="t"/>
              <a:pathLst>
                <a:path extrusionOk="0" h="36025" w="30363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503768" y="3102562"/>
              <a:ext cx="785061" cy="689423"/>
            </a:xfrm>
            <a:custGeom>
              <a:rect b="b" l="l" r="r" t="t"/>
              <a:pathLst>
                <a:path extrusionOk="0" h="689423" w="785061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3580122" y="393272"/>
              <a:ext cx="2872593" cy="3889928"/>
            </a:xfrm>
            <a:custGeom>
              <a:rect b="b" l="l" r="r" t="t"/>
              <a:pathLst>
                <a:path extrusionOk="0" h="3889928" w="2872593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6397319" y="4189501"/>
              <a:ext cx="30267" cy="107125"/>
            </a:xfrm>
            <a:custGeom>
              <a:rect b="b" l="l" r="r" t="t"/>
              <a:pathLst>
                <a:path extrusionOk="0" h="107125" w="30267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574887" y="397432"/>
              <a:ext cx="72623" cy="31086"/>
            </a:xfrm>
            <a:custGeom>
              <a:rect b="b" l="l" r="r" t="t"/>
              <a:pathLst>
                <a:path extrusionOk="0" h="31086" w="72623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554709" y="407720"/>
              <a:ext cx="2872878" cy="3889928"/>
            </a:xfrm>
            <a:custGeom>
              <a:rect b="b" l="l" r="r" t="t"/>
              <a:pathLst>
                <a:path extrusionOk="0" h="3889928" w="2872878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549854" y="410477"/>
              <a:ext cx="2872973" cy="3889886"/>
            </a:xfrm>
            <a:custGeom>
              <a:rect b="b" l="l" r="r" t="t"/>
              <a:pathLst>
                <a:path extrusionOk="0" h="3889886" w="2872973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3584596" y="456003"/>
              <a:ext cx="2802063" cy="3707642"/>
            </a:xfrm>
            <a:custGeom>
              <a:rect b="b" l="l" r="r" t="t"/>
              <a:pathLst>
                <a:path extrusionOk="0" h="3707642" w="2802063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3711283" y="669187"/>
              <a:ext cx="283071" cy="477189"/>
            </a:xfrm>
            <a:custGeom>
              <a:rect b="b" l="l" r="r" t="t"/>
              <a:pathLst>
                <a:path extrusionOk="0" h="477189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063456" y="872696"/>
              <a:ext cx="283832" cy="477419"/>
            </a:xfrm>
            <a:custGeom>
              <a:rect b="b" l="l" r="r" t="t"/>
              <a:pathLst>
                <a:path extrusionOk="0" h="477419" w="283832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4408015" y="1071223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3711283" y="1076206"/>
              <a:ext cx="283071" cy="477216"/>
            </a:xfrm>
            <a:custGeom>
              <a:rect b="b" l="l" r="r" t="t"/>
              <a:pathLst>
                <a:path extrusionOk="0" h="477216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063456" y="1279716"/>
              <a:ext cx="283556" cy="477216"/>
            </a:xfrm>
            <a:custGeom>
              <a:rect b="b" l="l" r="r" t="t"/>
              <a:pathLst>
                <a:path extrusionOk="0" h="477216" w="283556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098484" y="1260570"/>
              <a:ext cx="283570" cy="477216"/>
            </a:xfrm>
            <a:custGeom>
              <a:rect b="b" l="l" r="r" t="t"/>
              <a:pathLst>
                <a:path extrusionOk="0" h="477216" w="28357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4408015" y="1478241"/>
              <a:ext cx="284023" cy="477161"/>
            </a:xfrm>
            <a:custGeom>
              <a:rect b="b" l="l" r="r" t="t"/>
              <a:pathLst>
                <a:path extrusionOk="0" h="477161" w="284023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3711283" y="1491834"/>
              <a:ext cx="283071" cy="477165"/>
            </a:xfrm>
            <a:custGeom>
              <a:rect b="b" l="l" r="r" t="t"/>
              <a:pathLst>
                <a:path extrusionOk="0" h="477165" w="283071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3711283" y="1946286"/>
              <a:ext cx="980755" cy="657383"/>
            </a:xfrm>
            <a:custGeom>
              <a:rect b="b" l="l" r="r" t="t"/>
              <a:pathLst>
                <a:path extrusionOk="0" h="657383" w="980755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3715090" y="2139055"/>
              <a:ext cx="732044" cy="480371"/>
            </a:xfrm>
            <a:custGeom>
              <a:rect b="b" l="l" r="r" t="t"/>
              <a:pathLst>
                <a:path extrusionOk="0" h="480371" w="732044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3715090" y="2264376"/>
              <a:ext cx="732044" cy="480312"/>
            </a:xfrm>
            <a:custGeom>
              <a:rect b="b" l="l" r="r" t="t"/>
              <a:pathLst>
                <a:path extrusionOk="0" h="480312" w="732044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3715090" y="2389467"/>
              <a:ext cx="599361" cy="403889"/>
            </a:xfrm>
            <a:custGeom>
              <a:rect b="b" l="l" r="r" t="t"/>
              <a:pathLst>
                <a:path extrusionOk="0" h="403889" w="599361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855752" y="2612272"/>
              <a:ext cx="1403078" cy="900663"/>
            </a:xfrm>
            <a:custGeom>
              <a:rect b="b" l="l" r="r" t="t"/>
              <a:pathLst>
                <a:path extrusionOk="0" h="900663" w="1403078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860130" y="2805136"/>
              <a:ext cx="1263255" cy="786670"/>
            </a:xfrm>
            <a:custGeom>
              <a:rect b="b" l="l" r="r" t="t"/>
              <a:pathLst>
                <a:path extrusionOk="0" h="786670" w="1263255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4860130" y="2930227"/>
              <a:ext cx="1263255" cy="786839"/>
            </a:xfrm>
            <a:custGeom>
              <a:rect b="b" l="l" r="r" t="t"/>
              <a:pathLst>
                <a:path extrusionOk="0" h="786839" w="1263255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4860130" y="3055222"/>
              <a:ext cx="1034438" cy="654829"/>
            </a:xfrm>
            <a:custGeom>
              <a:rect b="b" l="l" r="r" t="t"/>
              <a:pathLst>
                <a:path extrusionOk="0" h="654829" w="1034438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063456" y="1695343"/>
              <a:ext cx="283556" cy="477207"/>
            </a:xfrm>
            <a:custGeom>
              <a:rect b="b" l="l" r="r" t="t"/>
              <a:pathLst>
                <a:path extrusionOk="0" h="477207" w="283556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4408015" y="1893817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4855752" y="1988490"/>
              <a:ext cx="1403078" cy="1286379"/>
            </a:xfrm>
            <a:custGeom>
              <a:rect b="b" l="l" r="r" t="t"/>
              <a:pathLst>
                <a:path extrusionOk="0" h="1286379" w="1403078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4846614" y="1414848"/>
              <a:ext cx="423274" cy="545612"/>
            </a:xfrm>
            <a:custGeom>
              <a:rect b="b" l="l" r="r" t="t"/>
              <a:pathLst>
                <a:path extrusionOk="0" h="545612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4846614" y="1414848"/>
              <a:ext cx="423274" cy="545629"/>
            </a:xfrm>
            <a:custGeom>
              <a:rect b="b" l="l" r="r" t="t"/>
              <a:pathLst>
                <a:path extrusionOk="0" h="545629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5340323" y="1699604"/>
              <a:ext cx="423179" cy="545654"/>
            </a:xfrm>
            <a:custGeom>
              <a:rect b="b" l="l" r="r" t="t"/>
              <a:pathLst>
                <a:path extrusionOk="0" h="545654" w="423179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5340323" y="1699604"/>
              <a:ext cx="332185" cy="545952"/>
            </a:xfrm>
            <a:custGeom>
              <a:rect b="b" l="l" r="r" t="t"/>
              <a:pathLst>
                <a:path extrusionOk="0" h="545952" w="332185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5834032" y="1984194"/>
              <a:ext cx="423559" cy="545654"/>
            </a:xfrm>
            <a:custGeom>
              <a:rect b="b" l="l" r="r" t="t"/>
              <a:pathLst>
                <a:path extrusionOk="0" h="545654" w="423559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5834032" y="1984177"/>
              <a:ext cx="211589" cy="286951"/>
            </a:xfrm>
            <a:custGeom>
              <a:rect b="b" l="l" r="r" t="t"/>
              <a:pathLst>
                <a:path extrusionOk="0" h="286951" w="211589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5029839" y="4705642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757750" y="4754499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012475" y="3630110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5244274" y="4799933"/>
              <a:ext cx="116580" cy="90224"/>
            </a:xfrm>
            <a:custGeom>
              <a:rect b="b" l="l" r="r" t="t"/>
              <a:pathLst>
                <a:path extrusionOk="0" h="90224" w="11658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5244760" y="4829592"/>
              <a:ext cx="116051" cy="60483"/>
            </a:xfrm>
            <a:custGeom>
              <a:rect b="b" l="l" r="r" t="t"/>
              <a:pathLst>
                <a:path extrusionOk="0" h="60483" w="116051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5124630" y="4754816"/>
              <a:ext cx="116569" cy="86887"/>
            </a:xfrm>
            <a:custGeom>
              <a:rect b="b" l="l" r="r" t="t"/>
              <a:pathLst>
                <a:path extrusionOk="0" h="86887" w="116569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5124926" y="4782825"/>
              <a:ext cx="116097" cy="60673"/>
            </a:xfrm>
            <a:custGeom>
              <a:rect b="b" l="l" r="r" t="t"/>
              <a:pathLst>
                <a:path extrusionOk="0" h="60673" w="116097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154433" y="4234936"/>
              <a:ext cx="200389" cy="574156"/>
            </a:xfrm>
            <a:custGeom>
              <a:rect b="b" l="l" r="r" t="t"/>
              <a:pathLst>
                <a:path extrusionOk="0" h="574156" w="200389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5199628" y="3876679"/>
              <a:ext cx="128464" cy="124722"/>
            </a:xfrm>
            <a:custGeom>
              <a:rect b="b" l="l" r="r" t="t"/>
              <a:pathLst>
                <a:path extrusionOk="0" h="124722" w="128464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4996526" y="3906336"/>
              <a:ext cx="182485" cy="357686"/>
            </a:xfrm>
            <a:custGeom>
              <a:rect b="b" l="l" r="r" t="t"/>
              <a:pathLst>
                <a:path extrusionOk="0" h="357686" w="182485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5154414" y="3894094"/>
              <a:ext cx="208226" cy="419055"/>
            </a:xfrm>
            <a:custGeom>
              <a:rect b="b" l="l" r="r" t="t"/>
              <a:pathLst>
                <a:path extrusionOk="0" h="419055" w="208226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5194395" y="3747198"/>
              <a:ext cx="138431" cy="168252"/>
            </a:xfrm>
            <a:custGeom>
              <a:rect b="b" l="l" r="r" t="t"/>
              <a:pathLst>
                <a:path extrusionOk="0" h="168252" w="138431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5199668" y="3732408"/>
              <a:ext cx="146095" cy="144175"/>
            </a:xfrm>
            <a:custGeom>
              <a:rect b="b" l="l" r="r" t="t"/>
              <a:pathLst>
                <a:path extrusionOk="0" h="144175" w="146095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5186268" y="3976961"/>
              <a:ext cx="186859" cy="320520"/>
            </a:xfrm>
            <a:custGeom>
              <a:rect b="b" l="l" r="r" t="t"/>
              <a:pathLst>
                <a:path extrusionOk="0" h="320520" w="186859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4957596" y="4074866"/>
              <a:ext cx="216348" cy="290578"/>
            </a:xfrm>
            <a:custGeom>
              <a:rect b="b" l="l" r="r" t="t"/>
              <a:pathLst>
                <a:path extrusionOk="0" h="290578" w="216348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5101717" y="4257084"/>
              <a:ext cx="109578" cy="53390"/>
            </a:xfrm>
            <a:custGeom>
              <a:rect b="b" l="l" r="r" t="t"/>
              <a:pathLst>
                <a:path extrusionOk="0" h="53390" w="109578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4984781" y="4223327"/>
              <a:ext cx="67863" cy="55821"/>
            </a:xfrm>
            <a:custGeom>
              <a:rect b="b" l="l" r="r" t="t"/>
              <a:pathLst>
                <a:path extrusionOk="0" h="55821" w="67863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5132255" y="3894454"/>
              <a:ext cx="67293" cy="97715"/>
            </a:xfrm>
            <a:custGeom>
              <a:rect b="b" l="l" r="r" t="t"/>
              <a:pathLst>
                <a:path extrusionOk="0" h="97715" w="67293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5305132" y="3960902"/>
              <a:ext cx="81740" cy="121566"/>
            </a:xfrm>
            <a:custGeom>
              <a:rect b="b" l="l" r="r" t="t"/>
              <a:pathLst>
                <a:path extrusionOk="0" h="121566" w="8174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821998" y="4049582"/>
              <a:ext cx="101559" cy="177370"/>
            </a:xfrm>
            <a:custGeom>
              <a:rect b="b" l="l" r="r" t="t"/>
              <a:pathLst>
                <a:path extrusionOk="0" h="177370" w="101559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814097" y="3945071"/>
              <a:ext cx="67769" cy="130685"/>
            </a:xfrm>
            <a:custGeom>
              <a:rect b="b" l="l" r="r" t="t"/>
              <a:pathLst>
                <a:path extrusionOk="0" h="130685" w="67769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966810" y="4837262"/>
              <a:ext cx="145801" cy="82247"/>
            </a:xfrm>
            <a:custGeom>
              <a:rect b="b" l="l" r="r" t="t"/>
              <a:pathLst>
                <a:path extrusionOk="0" h="82247" w="145801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969244" y="4850979"/>
              <a:ext cx="143767" cy="68530"/>
            </a:xfrm>
            <a:custGeom>
              <a:rect b="b" l="l" r="r" t="t"/>
              <a:pathLst>
                <a:path extrusionOk="0" h="68530" w="143767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864165" y="4805303"/>
              <a:ext cx="146191" cy="82209"/>
            </a:xfrm>
            <a:custGeom>
              <a:rect b="b" l="l" r="r" t="t"/>
              <a:pathLst>
                <a:path extrusionOk="0" h="82209" w="146191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866543" y="4818565"/>
              <a:ext cx="143767" cy="68566"/>
            </a:xfrm>
            <a:custGeom>
              <a:rect b="b" l="l" r="r" t="t"/>
              <a:pathLst>
                <a:path extrusionOk="0" h="68566" w="143767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858160" y="4267254"/>
              <a:ext cx="210834" cy="594226"/>
            </a:xfrm>
            <a:custGeom>
              <a:rect b="b" l="l" r="r" t="t"/>
              <a:pathLst>
                <a:path extrusionOk="0" h="594226" w="210834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884049" y="3772563"/>
              <a:ext cx="155365" cy="247695"/>
            </a:xfrm>
            <a:custGeom>
              <a:rect b="b" l="l" r="r" t="t"/>
              <a:pathLst>
                <a:path extrusionOk="0" h="247695" w="155365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832349" y="3948237"/>
              <a:ext cx="239208" cy="394751"/>
            </a:xfrm>
            <a:custGeom>
              <a:rect b="b" l="l" r="r" t="t"/>
              <a:pathLst>
                <a:path extrusionOk="0" h="394751" w="239208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3011886" y="4098914"/>
              <a:ext cx="63391" cy="288487"/>
            </a:xfrm>
            <a:custGeom>
              <a:rect b="b" l="l" r="r" t="t"/>
              <a:pathLst>
                <a:path extrusionOk="0" h="288487" w="63391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97806" y="3997207"/>
              <a:ext cx="83658" cy="135231"/>
            </a:xfrm>
            <a:custGeom>
              <a:rect b="b" l="l" r="r" t="t"/>
              <a:pathLst>
                <a:path extrusionOk="0" h="135231" w="83658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888823" y="3761654"/>
              <a:ext cx="150557" cy="165637"/>
            </a:xfrm>
            <a:custGeom>
              <a:rect b="b" l="l" r="r" t="t"/>
              <a:pathLst>
                <a:path extrusionOk="0" h="165637" w="150557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091982" y="2625612"/>
              <a:ext cx="210167" cy="307273"/>
            </a:xfrm>
            <a:custGeom>
              <a:rect b="b" l="l" r="r" t="t"/>
              <a:pathLst>
                <a:path extrusionOk="0" h="307273" w="210167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269538" y="2847336"/>
              <a:ext cx="39152" cy="227300"/>
            </a:xfrm>
            <a:custGeom>
              <a:rect b="b" l="l" r="r" t="t"/>
              <a:pathLst>
                <a:path extrusionOk="0" h="227300" w="39152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185896" y="2622782"/>
              <a:ext cx="100407" cy="124097"/>
            </a:xfrm>
            <a:custGeom>
              <a:rect b="b" l="l" r="r" t="t"/>
              <a:pathLst>
                <a:path extrusionOk="0" h="124097" w="100407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142363" y="2757613"/>
              <a:ext cx="124104" cy="138364"/>
            </a:xfrm>
            <a:custGeom>
              <a:rect b="b" l="l" r="r" t="t"/>
              <a:pathLst>
                <a:path extrusionOk="0" h="138364" w="124104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121718" y="2803072"/>
              <a:ext cx="180978" cy="208003"/>
            </a:xfrm>
            <a:custGeom>
              <a:rect b="b" l="l" r="r" t="t"/>
              <a:pathLst>
                <a:path extrusionOk="0" h="208003" w="180978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137334" y="2632700"/>
              <a:ext cx="133195" cy="163980"/>
            </a:xfrm>
            <a:custGeom>
              <a:rect b="b" l="l" r="r" t="t"/>
              <a:pathLst>
                <a:path extrusionOk="0" h="163980" w="133195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131362" y="2631771"/>
              <a:ext cx="133630" cy="125556"/>
            </a:xfrm>
            <a:custGeom>
              <a:rect b="b" l="l" r="r" t="t"/>
              <a:pathLst>
                <a:path extrusionOk="0" h="125556" w="13363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137527" y="3718507"/>
              <a:ext cx="105640" cy="80438"/>
            </a:xfrm>
            <a:custGeom>
              <a:rect b="b" l="l" r="r" t="t"/>
              <a:pathLst>
                <a:path extrusionOk="0" h="80438" w="10564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137841" y="3744079"/>
              <a:ext cx="105259" cy="54863"/>
            </a:xfrm>
            <a:custGeom>
              <a:rect b="b" l="l" r="r" t="t"/>
              <a:pathLst>
                <a:path extrusionOk="0" h="54863" w="105259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226539" y="3701115"/>
              <a:ext cx="96273" cy="74358"/>
            </a:xfrm>
            <a:custGeom>
              <a:rect b="b" l="l" r="r" t="t"/>
              <a:pathLst>
                <a:path extrusionOk="0" h="74358" w="96273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226484" y="3725354"/>
              <a:ext cx="95903" cy="50071"/>
            </a:xfrm>
            <a:custGeom>
              <a:rect b="b" l="l" r="r" t="t"/>
              <a:pathLst>
                <a:path extrusionOk="0" h="50071" w="95903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101518" y="3008174"/>
              <a:ext cx="205910" cy="717579"/>
            </a:xfrm>
            <a:custGeom>
              <a:rect b="b" l="l" r="r" t="t"/>
              <a:pathLst>
                <a:path extrusionOk="0" h="717579" w="20591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2096876" y="2994106"/>
              <a:ext cx="219176" cy="477454"/>
            </a:xfrm>
            <a:custGeom>
              <a:rect b="b" l="l" r="r" t="t"/>
              <a:pathLst>
                <a:path extrusionOk="0" h="477454" w="219176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2115642" y="2850934"/>
              <a:ext cx="316003" cy="274536"/>
            </a:xfrm>
            <a:custGeom>
              <a:rect b="b" l="l" r="r" t="t"/>
              <a:pathLst>
                <a:path extrusionOk="0" h="274536" w="316003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2110000" y="2833008"/>
              <a:ext cx="75991" cy="89275"/>
            </a:xfrm>
            <a:custGeom>
              <a:rect b="b" l="l" r="r" t="t"/>
              <a:pathLst>
                <a:path extrusionOk="0" h="89275" w="75991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2246717" y="2802864"/>
              <a:ext cx="61392" cy="64630"/>
            </a:xfrm>
            <a:custGeom>
              <a:rect b="b" l="l" r="r" t="t"/>
              <a:pathLst>
                <a:path extrusionOk="0" h="64630" w="61392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2092047" y="1119152"/>
              <a:ext cx="668082" cy="515307"/>
            </a:xfrm>
            <a:custGeom>
              <a:rect b="b" l="l" r="r" t="t"/>
              <a:pathLst>
                <a:path extrusionOk="0" h="515307" w="668082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rect b="b" l="l" r="r" t="t"/>
              <a:pathLst>
                <a:path extrusionOk="0" h="134025" w="232624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2667422" y="1490358"/>
              <a:ext cx="274409" cy="269191"/>
            </a:xfrm>
            <a:custGeom>
              <a:rect b="b" l="l" r="r" t="t"/>
              <a:pathLst>
                <a:path extrusionOk="0" h="269191" w="274409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2667422" y="1454143"/>
              <a:ext cx="337610" cy="194669"/>
            </a:xfrm>
            <a:custGeom>
              <a:rect b="b" l="l" r="r" t="t"/>
              <a:pathLst>
                <a:path extrusionOk="0" h="194669" w="33761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rect b="b" l="l" r="r" t="t"/>
              <a:pathLst>
                <a:path extrusionOk="0" h="1194633" w="69064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2858071" y="1161854"/>
              <a:ext cx="1027965" cy="1324206"/>
            </a:xfrm>
            <a:custGeom>
              <a:rect b="b" l="l" r="r" t="t"/>
              <a:pathLst>
                <a:path extrusionOk="0" h="1324206" w="1027965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2800391" y="1195123"/>
              <a:ext cx="1027965" cy="1324248"/>
            </a:xfrm>
            <a:custGeom>
              <a:rect b="b" l="l" r="r" t="t"/>
              <a:pathLst>
                <a:path extrusionOk="0" h="1324248" w="1027965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/>
              <a:t>Módulos</a:t>
            </a:r>
            <a:endParaRPr/>
          </a:p>
        </p:txBody>
      </p:sp>
      <p:sp>
        <p:nvSpPr>
          <p:cNvPr id="413" name="Google Shape;413;p3"/>
          <p:cNvSpPr txBox="1"/>
          <p:nvPr/>
        </p:nvSpPr>
        <p:spPr>
          <a:xfrm>
            <a:off x="457199" y="1365504"/>
            <a:ext cx="8783053" cy="327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1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Fundamentos de marketing digital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2 · SEO &amp; SEM.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3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Redes sociales y contenidos.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4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Analítica y automatización.</a:t>
            </a:r>
            <a:endParaRPr/>
          </a:p>
        </p:txBody>
      </p:sp>
      <p:grpSp>
        <p:nvGrpSpPr>
          <p:cNvPr id="414" name="Google Shape;414;p3"/>
          <p:cNvGrpSpPr/>
          <p:nvPr/>
        </p:nvGrpSpPr>
        <p:grpSpPr>
          <a:xfrm>
            <a:off x="3075819" y="3352800"/>
            <a:ext cx="2706354" cy="1604434"/>
            <a:chOff x="6986665" y="3298709"/>
            <a:chExt cx="1817809" cy="1077669"/>
          </a:xfrm>
        </p:grpSpPr>
        <p:sp>
          <p:nvSpPr>
            <p:cNvPr id="415" name="Google Shape;415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600"/>
              <a:t>Módulo 1 ·</a:t>
            </a:r>
            <a:r>
              <a:rPr lang="es-ES" sz="3600">
                <a:solidFill>
                  <a:srgbClr val="007BB9"/>
                </a:solidFill>
              </a:rPr>
              <a:t> Fundamentos de </a:t>
            </a:r>
            <a:br>
              <a:rPr lang="es-ES" sz="3600">
                <a:solidFill>
                  <a:srgbClr val="007BB9"/>
                </a:solidFill>
              </a:rPr>
            </a:br>
            <a:r>
              <a:rPr lang="es-ES" sz="3600">
                <a:solidFill>
                  <a:srgbClr val="007BB9"/>
                </a:solidFill>
              </a:rPr>
              <a:t>marketing digital</a:t>
            </a:r>
            <a:br>
              <a:rPr lang="es-ES" sz="2800">
                <a:solidFill>
                  <a:srgbClr val="007BB9"/>
                </a:solidFill>
              </a:rPr>
            </a:br>
            <a:endParaRPr sz="3600"/>
          </a:p>
        </p:txBody>
      </p:sp>
      <p:sp>
        <p:nvSpPr>
          <p:cNvPr id="447" name="Google Shape;447;p4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Aprenderás los conceptos esenciales: objetivos SMART y KPIs de marketing.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Ejemplo: 'Aumentar en un 25% el tráfico web de la tienda online en 3 meses'.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Exploraremos el embudo de conversión TOFU–MOFU–BOFU:</a:t>
            </a:r>
            <a:endParaRPr/>
          </a:p>
          <a:p>
            <a:pPr indent="-3429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</a:pPr>
            <a:r>
              <a:rPr lang="es-ES"/>
              <a:t>- TOFU: atraer (redes sociales, SEO, blogs).</a:t>
            </a:r>
            <a:endParaRPr/>
          </a:p>
          <a:p>
            <a:pPr indent="-3429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</a:pPr>
            <a:r>
              <a:rPr lang="es-ES"/>
              <a:t>- MOFU: considerar (email marketing, remarketing).</a:t>
            </a:r>
            <a:endParaRPr/>
          </a:p>
          <a:p>
            <a:pPr indent="-3429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</a:pPr>
            <a:r>
              <a:rPr lang="es-ES"/>
              <a:t>- BOFU: decidir (ofertas, testimonios, contacto).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Analizaremos el customer journey con un caso de una cafetería de Santiago que lanza una campaña para nuevos clientes.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448" name="Google Shape;448;p4"/>
          <p:cNvGrpSpPr/>
          <p:nvPr/>
        </p:nvGrpSpPr>
        <p:grpSpPr>
          <a:xfrm>
            <a:off x="7736505" y="2420302"/>
            <a:ext cx="1407494" cy="1561150"/>
            <a:chOff x="2152750" y="190500"/>
            <a:chExt cx="4293756" cy="4762499"/>
          </a:xfrm>
        </p:grpSpPr>
        <p:sp>
          <p:nvSpPr>
            <p:cNvPr id="449" name="Google Shape;449;p4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4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4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4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4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4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4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4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4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4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3" name="Google Shape;523;p4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524" name="Google Shape;524;p4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4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4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4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4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4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4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4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4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534" name="Google Shape;534;p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9" name="Google Shape;539;p4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7" name="Google Shape;557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600"/>
              <a:t>Práctica guiada – Módulo 1</a:t>
            </a:r>
            <a:br>
              <a:rPr lang="es-ES" sz="2800">
                <a:solidFill>
                  <a:srgbClr val="007BB9"/>
                </a:solidFill>
              </a:rPr>
            </a:br>
            <a:endParaRPr sz="3600"/>
          </a:p>
        </p:txBody>
      </p:sp>
      <p:sp>
        <p:nvSpPr>
          <p:cNvPr id="563" name="Google Shape;563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1. Define un objetivo SMART para tu marca o emprendimiento.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2. Dibuja tu embudo TOFU–MOFU–BOFU y asigna canales para cada etapa.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3. Crea una lista de KPIs relevantes (ejemplo: tasa de conversión, CTR, costo por clic).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4. Identifica puntos de contacto en el customer journey de tu negocio.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564" name="Google Shape;564;p5"/>
          <p:cNvGrpSpPr/>
          <p:nvPr/>
        </p:nvGrpSpPr>
        <p:grpSpPr>
          <a:xfrm>
            <a:off x="7736505" y="2420302"/>
            <a:ext cx="1407494" cy="1561150"/>
            <a:chOff x="2152750" y="190500"/>
            <a:chExt cx="4293756" cy="4762499"/>
          </a:xfrm>
        </p:grpSpPr>
        <p:sp>
          <p:nvSpPr>
            <p:cNvPr id="565" name="Google Shape;565;p5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9" name="Google Shape;639;p5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640" name="Google Shape;640;p5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5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5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5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5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5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5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5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650" name="Google Shape;650;p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5" name="Google Shape;655;p5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3" name="Google Shape;673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2 ·</a:t>
            </a:r>
            <a:r>
              <a:rPr lang="es-ES" sz="3200">
                <a:solidFill>
                  <a:srgbClr val="007BB9"/>
                </a:solidFill>
              </a:rPr>
              <a:t> SEO &amp; SEM.</a:t>
            </a: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679" name="Google Shape;679;p6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SEO on-page: aprende a usar palabras clave y optimizar contenido.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Ejemplo: posicionar 'panadería artesanal Santiago' usando títulos y descripciones efectivas.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SEO off-page: generación de enlaces y reputación digital.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SEM: estructura de campañas en Google Ads.</a:t>
            </a:r>
            <a:endParaRPr/>
          </a:p>
          <a:p>
            <a:pPr indent="-3429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</a:pPr>
            <a:r>
              <a:rPr lang="es-ES" sz="2200"/>
              <a:t>- Campaña → Grupos de anuncios → Anuncios individuales.</a:t>
            </a:r>
            <a:endParaRPr/>
          </a:p>
          <a:p>
            <a:pPr indent="-3429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</a:pPr>
            <a:r>
              <a:rPr lang="es-ES" sz="2200"/>
              <a:t>- Definición de presupuesto y segmentación.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Caso práctico: una tienda online de accesorios lanza campaña 'Promoción Primavera'.</a:t>
            </a:r>
            <a:endParaRPr sz="2200"/>
          </a:p>
        </p:txBody>
      </p:sp>
      <p:grpSp>
        <p:nvGrpSpPr>
          <p:cNvPr id="680" name="Google Shape;680;p6"/>
          <p:cNvGrpSpPr/>
          <p:nvPr/>
        </p:nvGrpSpPr>
        <p:grpSpPr>
          <a:xfrm>
            <a:off x="7610607" y="2188238"/>
            <a:ext cx="1338321" cy="1274290"/>
            <a:chOff x="1926580" y="602477"/>
            <a:chExt cx="4456273" cy="4762466"/>
          </a:xfrm>
        </p:grpSpPr>
        <p:sp>
          <p:nvSpPr>
            <p:cNvPr id="681" name="Google Shape;681;p6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6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6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6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6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6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6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6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6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6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6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6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6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6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6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6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6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6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6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6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6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6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6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6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6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6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6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6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6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6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6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6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6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6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6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6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6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6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6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6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6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6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6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6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7" name="Google Shape;827;p6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828" name="Google Shape;828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3" name="Google Shape;833;p6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6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5" name="Google Shape;835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– Módulo 2</a:t>
            </a: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841" name="Google Shape;841;p7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1. Elige una palabra clave para tu negocio y crea un título optimizado.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2. Diseña un anuncio básico en Google Ads con título, descripción y URL visible.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3. Calcula el presupuesto diario según CPC estimado.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4. Revisa el resultado en el simulador de anuncios de Google.</a:t>
            </a:r>
            <a:endParaRPr sz="2200"/>
          </a:p>
        </p:txBody>
      </p:sp>
      <p:grpSp>
        <p:nvGrpSpPr>
          <p:cNvPr id="842" name="Google Shape;842;p7"/>
          <p:cNvGrpSpPr/>
          <p:nvPr/>
        </p:nvGrpSpPr>
        <p:grpSpPr>
          <a:xfrm>
            <a:off x="7341570" y="3687854"/>
            <a:ext cx="1338321" cy="1274290"/>
            <a:chOff x="1926580" y="602477"/>
            <a:chExt cx="4456273" cy="4762466"/>
          </a:xfrm>
        </p:grpSpPr>
        <p:sp>
          <p:nvSpPr>
            <p:cNvPr id="843" name="Google Shape;843;p7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7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7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7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7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7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7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7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7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7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7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7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7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7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7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7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7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7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7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7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7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7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7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7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7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7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7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7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7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7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7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7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7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7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7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7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7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7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7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7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7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7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7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7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7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7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7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7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7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7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7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7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7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7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7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7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7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7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7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7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7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7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7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7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7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7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7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7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7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7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7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7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7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7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7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7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7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7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7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7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7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7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7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7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7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7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7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7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7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7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7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7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7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7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7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7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7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7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7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7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7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7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7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7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7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7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7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7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7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7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7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7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7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7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7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7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7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7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7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7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7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9" name="Google Shape;989;p7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990" name="Google Shape;990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5" name="Google Shape;995;p7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7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7" name="Google Shape;997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3: Redes Sociales y Contenidos</a:t>
            </a:r>
            <a:br>
              <a:rPr lang="es-ES" sz="3200">
                <a:solidFill>
                  <a:srgbClr val="007BB9"/>
                </a:solidFill>
              </a:rPr>
            </a:b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1003" name="Google Shape;1003;p8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Aprenderás a definir tu buyer persona: edad, intereses, ubicación y comportamiento.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Ejemplo: cliente ideal de cafetería local: 25-35 años, trabaja remoto, busca espacios tranquilos.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Diseñarás un calendario editorial con formatos variados: reels, carruseles y stories.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Buenas prácticas: consistencia visual, storytelling y engagement real.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Caso práctico: tienda de ropa chilena lanza campaña con reels semanales de combinaciones.</a:t>
            </a:r>
            <a:endParaRPr sz="1800"/>
          </a:p>
        </p:txBody>
      </p:sp>
      <p:grpSp>
        <p:nvGrpSpPr>
          <p:cNvPr id="1004" name="Google Shape;1004;p8"/>
          <p:cNvGrpSpPr/>
          <p:nvPr/>
        </p:nvGrpSpPr>
        <p:grpSpPr>
          <a:xfrm>
            <a:off x="6996449" y="3497718"/>
            <a:ext cx="1562335" cy="1523861"/>
            <a:chOff x="2011725" y="44285"/>
            <a:chExt cx="4684870" cy="4762340"/>
          </a:xfrm>
        </p:grpSpPr>
        <p:grpSp>
          <p:nvGrpSpPr>
            <p:cNvPr id="1005" name="Google Shape;1005;p8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006" name="Google Shape;1006;p8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8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8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8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8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8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8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8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8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8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8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8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8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8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8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8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8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8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8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8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8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8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8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8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8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8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8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8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8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8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8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8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8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8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8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8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8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8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8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8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8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8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8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8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8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8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8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8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8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8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8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8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8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8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8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8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8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8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8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8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8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8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8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8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8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8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8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8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8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8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8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8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8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8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8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8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8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8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3" name="Google Shape;1113;p8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8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8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8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8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4" name="Google Shape;1254;p8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255" name="Google Shape;1255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0" name="Google Shape;1260;p8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261" name="Google Shape;1261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6" name="Google Shape;1266;p8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8" name="Google Shape;1268;p8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269" name="Google Shape;1269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4" name="Google Shape;1274;p8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6" name="Google Shape;1276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– Módulo 3</a:t>
            </a:r>
            <a:endParaRPr sz="3200"/>
          </a:p>
        </p:txBody>
      </p:sp>
      <p:sp>
        <p:nvSpPr>
          <p:cNvPr id="1282" name="Google Shape;1282;p9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1. Crea el perfil de tu buyer persona usando una plantilla.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2. Diseña un calendario semanal con 3 tipos de contenido (educativo, emocional y promocional).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3. Usa Canva o similar para crear una pieza visual coherente con tu marca.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4. Publica una historia de interacción y mide las respuestas.</a:t>
            </a:r>
            <a:endParaRPr sz="1800"/>
          </a:p>
        </p:txBody>
      </p:sp>
      <p:grpSp>
        <p:nvGrpSpPr>
          <p:cNvPr id="1283" name="Google Shape;1283;p9"/>
          <p:cNvGrpSpPr/>
          <p:nvPr/>
        </p:nvGrpSpPr>
        <p:grpSpPr>
          <a:xfrm>
            <a:off x="6996449" y="3497718"/>
            <a:ext cx="1562335" cy="1523861"/>
            <a:chOff x="2011725" y="44285"/>
            <a:chExt cx="4684870" cy="4762340"/>
          </a:xfrm>
        </p:grpSpPr>
        <p:grpSp>
          <p:nvGrpSpPr>
            <p:cNvPr id="1284" name="Google Shape;1284;p9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1285" name="Google Shape;1285;p9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9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9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9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9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9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9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9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9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9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9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9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9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9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9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9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9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9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9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9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9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9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9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9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9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9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9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9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9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9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9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9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9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9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9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9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9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9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9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9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9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9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9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9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9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9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9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9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9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9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9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9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9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9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9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9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9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9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9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9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9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9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9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9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9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9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9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9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9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9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9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9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9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9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9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9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9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9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9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9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9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9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9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9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9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9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9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9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9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9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9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9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9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9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9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9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9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9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9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9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9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9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9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9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9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9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9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2" name="Google Shape;1392;p9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9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9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9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9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9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9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9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9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9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9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9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9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9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9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9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9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9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9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9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9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9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9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9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9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9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9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9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9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9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9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9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9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9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9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9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9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9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9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9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9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9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9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9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9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9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9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9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9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9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9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9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9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9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9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9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9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9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9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9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9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9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9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9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9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9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9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9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9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9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9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9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9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9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9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9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9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9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9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9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9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9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9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9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9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9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9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9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9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9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9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9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9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9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9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9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9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9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9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9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9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9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9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9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9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9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9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9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9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9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9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9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9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9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9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9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9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9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9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9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9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9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9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9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9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9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9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9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9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9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9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9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9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9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9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9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9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9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9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9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9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33" name="Google Shape;1533;p9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534" name="Google Shape;1534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9" name="Google Shape;1539;p9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540" name="Google Shape;1540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5" name="Google Shape;1545;p9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9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7" name="Google Shape;1547;p9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548" name="Google Shape;1548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3" name="Google Shape;1553;p9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9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5" name="Google Shape;1555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1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4: Analítica y </a:t>
            </a:r>
            <a:endParaRPr sz="32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Automatización</a:t>
            </a:r>
            <a:endParaRPr sz="3200"/>
          </a:p>
        </p:txBody>
      </p:sp>
      <p:sp>
        <p:nvSpPr>
          <p:cNvPr id="1561" name="Google Shape;1561;p10"/>
          <p:cNvSpPr txBox="1"/>
          <p:nvPr>
            <p:ph idx="1" type="body"/>
          </p:nvPr>
        </p:nvSpPr>
        <p:spPr>
          <a:xfrm>
            <a:off x="457200" y="1598650"/>
            <a:ext cx="76518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Exploraremos GA4: eventos, conversiones y exploraciones.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Configuración de Tag Manager y píxeles de seguimiento.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Caso práctico: cafetería que mide conversiones desde su anuncio de Instagram.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Email marketing: automatización de flujos básicos.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900"/>
              <a:t>- Ejemplo: email de bienvenida y recordatorio de carrito abandonado.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Analizaremos herramientas como MailerLite o HubSpot para automatizar envíos.</a:t>
            </a:r>
            <a:endParaRPr sz="1900"/>
          </a:p>
        </p:txBody>
      </p:sp>
      <p:grpSp>
        <p:nvGrpSpPr>
          <p:cNvPr id="1562" name="Google Shape;1562;p10"/>
          <p:cNvGrpSpPr/>
          <p:nvPr/>
        </p:nvGrpSpPr>
        <p:grpSpPr>
          <a:xfrm>
            <a:off x="7575354" y="2523744"/>
            <a:ext cx="1471109" cy="1554246"/>
            <a:chOff x="2152750" y="190500"/>
            <a:chExt cx="4293756" cy="4762499"/>
          </a:xfrm>
        </p:grpSpPr>
        <p:sp>
          <p:nvSpPr>
            <p:cNvPr id="1563" name="Google Shape;1563;p10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10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10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10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10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10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10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0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10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10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10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10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10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10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10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10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10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10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10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10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10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10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10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10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10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10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10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10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10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10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10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10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10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10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10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10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10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10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10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10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10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10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10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10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10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10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10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10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10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10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10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10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10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10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10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10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10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10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10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10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10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10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10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10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10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10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10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10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10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0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10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10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10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10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7" name="Google Shape;1637;p10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1638" name="Google Shape;1638;p10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10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0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0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0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0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10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10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10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7" name="Google Shape;1647;p10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1648" name="Google Shape;1648;p1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1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1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1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1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3" name="Google Shape;1653;p10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10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10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10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10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10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10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10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10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10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10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10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10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10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10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10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10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10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1" name="Google Shape;1671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– Módulo 4</a:t>
            </a:r>
            <a:endParaRPr sz="3200"/>
          </a:p>
        </p:txBody>
      </p:sp>
      <p:sp>
        <p:nvSpPr>
          <p:cNvPr id="1677" name="Google Shape;1677;p11"/>
          <p:cNvSpPr txBox="1"/>
          <p:nvPr>
            <p:ph idx="1" type="body"/>
          </p:nvPr>
        </p:nvSpPr>
        <p:spPr>
          <a:xfrm>
            <a:off x="542150" y="1688300"/>
            <a:ext cx="6454800" cy="28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1. Crea un evento de conversión en GA4 (ejemplo: clic en botón de contacto).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2. Configura un flujo de bienvenida en una herramienta de email marketing.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3. Conecta tu sitio con Tag Manager para seguimiento de tráfico.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4. Revisa tus métricas clave: sesiones, CTR y conversiones.</a:t>
            </a:r>
            <a:endParaRPr sz="2200"/>
          </a:p>
        </p:txBody>
      </p:sp>
      <p:grpSp>
        <p:nvGrpSpPr>
          <p:cNvPr id="1678" name="Google Shape;1678;p11"/>
          <p:cNvGrpSpPr/>
          <p:nvPr/>
        </p:nvGrpSpPr>
        <p:grpSpPr>
          <a:xfrm>
            <a:off x="7480227" y="3413760"/>
            <a:ext cx="1471109" cy="1554246"/>
            <a:chOff x="2152750" y="190500"/>
            <a:chExt cx="4293756" cy="4762499"/>
          </a:xfrm>
        </p:grpSpPr>
        <p:sp>
          <p:nvSpPr>
            <p:cNvPr id="1679" name="Google Shape;1679;p11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11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11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11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11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1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11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11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11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1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11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11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11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11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11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11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11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1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11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11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11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11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11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11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11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11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11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11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11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11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11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11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11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11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11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11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11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11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11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11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11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11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11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11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11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11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11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11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11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1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1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11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11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11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11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11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11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11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11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11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11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11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11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11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11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11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11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11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11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11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11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11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11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11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53" name="Google Shape;1753;p11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1754" name="Google Shape;1754;p11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1755;p11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11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11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11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11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11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11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11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3" name="Google Shape;1763;p11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1764" name="Google Shape;1764;p1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5" name="Google Shape;1765;p1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1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1767;p1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1768;p1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69" name="Google Shape;1769;p11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11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11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11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11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11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11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11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11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11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11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11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11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11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11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11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11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11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7" name="Google Shape;1787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4000"/>
              <a:t>Conclusión</a:t>
            </a:r>
            <a:endParaRPr sz="4000"/>
          </a:p>
        </p:txBody>
      </p:sp>
      <p:sp>
        <p:nvSpPr>
          <p:cNvPr id="1793" name="Google Shape;1793;p12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Al finalizar el curso, podrás diseñar estrategias digitales integrales.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Sabrás cómo atraer clientes, optimizar campañas y medir resultados.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Aplicarás herramientas como Google Ads, Meta Ads, GA4 y MailerLite.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El marketing digital te permitirá hacer crecer tu negocio con decisiones basadas en datos.</a:t>
            </a:r>
            <a:endParaRPr sz="1800"/>
          </a:p>
        </p:txBody>
      </p:sp>
      <p:sp>
        <p:nvSpPr>
          <p:cNvPr id="1794" name="Google Shape;1794;p1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