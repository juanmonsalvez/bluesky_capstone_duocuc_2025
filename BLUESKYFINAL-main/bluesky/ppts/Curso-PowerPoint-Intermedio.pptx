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Raleway Thin"/>
      <p:regular r:id="rId25"/>
      <p:bold r:id="rId26"/>
      <p:italic r:id="rId27"/>
      <p:boldItalic r:id="rId28"/>
    </p:embeddedFont>
    <p:embeddedFont>
      <p:font typeface="Barlow Light"/>
      <p:regular r:id="rId29"/>
      <p:bold r:id="rId30"/>
      <p:italic r:id="rId31"/>
      <p:boldItalic r:id="rId32"/>
    </p:embeddedFont>
    <p:embeddedFont>
      <p:font typeface="Barlow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1WeRbZkjhgoL+u35lX70I5aOP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Thin-bold.fntdata"/><Relationship Id="rId25" Type="http://schemas.openxmlformats.org/officeDocument/2006/relationships/font" Target="fonts/RalewayThin-regular.fntdata"/><Relationship Id="rId28" Type="http://schemas.openxmlformats.org/officeDocument/2006/relationships/font" Target="fonts/RalewayThin-boldItalic.fntdata"/><Relationship Id="rId27" Type="http://schemas.openxmlformats.org/officeDocument/2006/relationships/font" Target="fonts/RalewayThin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Light-italic.fntdata"/><Relationship Id="rId30" Type="http://schemas.openxmlformats.org/officeDocument/2006/relationships/font" Target="fonts/BarlowLight-bold.fntdata"/><Relationship Id="rId11" Type="http://schemas.openxmlformats.org/officeDocument/2006/relationships/slide" Target="slides/slide7.xml"/><Relationship Id="rId33" Type="http://schemas.openxmlformats.org/officeDocument/2006/relationships/font" Target="fonts/Barlow-regular.fntdata"/><Relationship Id="rId10" Type="http://schemas.openxmlformats.org/officeDocument/2006/relationships/slide" Target="slides/slide6.xml"/><Relationship Id="rId32" Type="http://schemas.openxmlformats.org/officeDocument/2006/relationships/font" Target="fonts/BarlowLight-boldItalic.fntdata"/><Relationship Id="rId13" Type="http://schemas.openxmlformats.org/officeDocument/2006/relationships/slide" Target="slides/slide9.xml"/><Relationship Id="rId35" Type="http://schemas.openxmlformats.org/officeDocument/2006/relationships/font" Target="fonts/Barlow-italic.fntdata"/><Relationship Id="rId12" Type="http://schemas.openxmlformats.org/officeDocument/2006/relationships/slide" Target="slides/slide8.xml"/><Relationship Id="rId34" Type="http://schemas.openxmlformats.org/officeDocument/2006/relationships/font" Target="fonts/Barlow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Barlow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10d4bad4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10d4bad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10d4bad43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910d4bad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10d4bad43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10d4bad4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10d4bad43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10d4bad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10d4bad43_0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10d4bad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10d4bad43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10d4bad4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10d4bad43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10d4bad4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10d4bad43_0_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910d4bad4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10d4bad43_0_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910d4bad4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10d4bad43_0_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910d4bad4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10d4bad43_0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10d4bad4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10d4bad43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10d4bad4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10d4bad43_0_1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10d4bad4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10d4bad43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10d4bad4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2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/>
          <p:nvPr/>
        </p:nvSpPr>
        <p:spPr>
          <a:xfrm rot="5400000">
            <a:off x="-100350" y="45201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3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846445" y="1401680"/>
            <a:ext cx="3117472" cy="3159805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8627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8627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372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3725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862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862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862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862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862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862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3725"/>
                  </a:srgbClr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-37050" y="399328"/>
            <a:ext cx="70014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000">
                <a:latin typeface="Raleway"/>
                <a:ea typeface="Raleway"/>
                <a:cs typeface="Raleway"/>
                <a:sym typeface="Raleway"/>
              </a:rPr>
              <a:t>Curso de PowerPoint Intermedio</a:t>
            </a:r>
            <a:endParaRPr b="1" sz="4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4000"/>
          </a:p>
        </p:txBody>
      </p:sp>
      <p:sp>
        <p:nvSpPr>
          <p:cNvPr id="306" name="Google Shape;306;p1"/>
          <p:cNvSpPr/>
          <p:nvPr/>
        </p:nvSpPr>
        <p:spPr>
          <a:xfrm>
            <a:off x="518627" y="3063754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10d4bad43_0_0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del Curso</a:t>
            </a:r>
            <a:endParaRPr/>
          </a:p>
        </p:txBody>
      </p:sp>
      <p:sp>
        <p:nvSpPr>
          <p:cNvPr id="312" name="Google Shape;312;g3910d4bad43_0_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g3910d4bad43_0_0"/>
          <p:cNvSpPr/>
          <p:nvPr/>
        </p:nvSpPr>
        <p:spPr>
          <a:xfrm>
            <a:off x="318750" y="2284225"/>
            <a:ext cx="2783100" cy="2352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5400012" scaled="0"/>
          </a:gradFill>
          <a:ln cap="flat" cmpd="sng" w="9525">
            <a:solidFill>
              <a:srgbClr val="F5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Título del Programa</a:t>
            </a:r>
            <a:endParaRPr b="1" sz="17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4343"/>
                </a:solidFill>
                <a:latin typeface="Barlow Light"/>
                <a:ea typeface="Barlow Light"/>
                <a:cs typeface="Barlow Light"/>
                <a:sym typeface="Barlow Light"/>
              </a:rPr>
              <a:t>PowerPoint Intermedio – BlueSky Financial</a:t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14" name="Google Shape;314;g3910d4bad43_0_0"/>
          <p:cNvSpPr/>
          <p:nvPr/>
        </p:nvSpPr>
        <p:spPr>
          <a:xfrm>
            <a:off x="3180450" y="2284225"/>
            <a:ext cx="2783100" cy="2352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5400012" scaled="0"/>
          </a:gradFill>
          <a:ln cap="flat" cmpd="sng" w="9525">
            <a:solidFill>
              <a:srgbClr val="F5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Nivel</a:t>
            </a:r>
            <a:endParaRPr b="1" sz="17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4343"/>
                </a:solidFill>
                <a:latin typeface="Barlow Light"/>
                <a:ea typeface="Barlow Light"/>
                <a:cs typeface="Barlow Light"/>
                <a:sym typeface="Barlow Light"/>
              </a:rPr>
              <a:t>Intermedio – Diseñado para profesionales con conocimientos básicos de PowerPoint</a:t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15" name="Google Shape;315;g3910d4bad43_0_0"/>
          <p:cNvSpPr/>
          <p:nvPr/>
        </p:nvSpPr>
        <p:spPr>
          <a:xfrm>
            <a:off x="6042150" y="2284225"/>
            <a:ext cx="2783100" cy="23526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5400012" scaled="0"/>
          </a:gradFill>
          <a:ln cap="flat" cmpd="sng" w="9525">
            <a:solidFill>
              <a:srgbClr val="F5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Objetivo General</a:t>
            </a:r>
            <a:endParaRPr b="1" sz="17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4343"/>
                </a:solidFill>
                <a:latin typeface="Barlow Light"/>
                <a:ea typeface="Barlow Light"/>
                <a:cs typeface="Barlow Light"/>
                <a:sym typeface="Barlow Light"/>
              </a:rPr>
              <a:t>Mejorar tu capacidad para crear presentaciones corporativas profesionales utilizando herramientas avanzadas y técnicas de diseño efectivas</a:t>
            </a:r>
            <a:endParaRPr sz="1700">
              <a:solidFill>
                <a:srgbClr val="43434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16" name="Google Shape;316;g3910d4bad43_0_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10d4bad43_0_17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 del Curso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Al finalizar este curso, habrás desarrollado las competencias necesarias para:</a:t>
            </a:r>
            <a:endParaRPr sz="1800"/>
          </a:p>
        </p:txBody>
      </p:sp>
      <p:sp>
        <p:nvSpPr>
          <p:cNvPr id="322" name="Google Shape;322;g3910d4bad43_0_17"/>
          <p:cNvSpPr txBox="1"/>
          <p:nvPr>
            <p:ph idx="1" type="body"/>
          </p:nvPr>
        </p:nvSpPr>
        <p:spPr>
          <a:xfrm>
            <a:off x="327750" y="1995850"/>
            <a:ext cx="42003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Elevar la calidad visual</a:t>
            </a:r>
            <a:endParaRPr b="1"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Mejorar sustancialmente el impacto visual y profesional de tus presentaciones corporativas</a:t>
            </a:r>
            <a:endParaRPr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Diseños profesionales</a:t>
            </a:r>
            <a:endParaRPr b="1"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Crear diseños coherentes y sofisticados utilizando el Patrón de diapositivas como base</a:t>
            </a:r>
            <a:endParaRPr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Contenido multimedia</a:t>
            </a:r>
            <a:endParaRPr b="1"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Insertar y editar imágenes, íconos, videos y SmartArt de forma profesional y efectiva</a:t>
            </a:r>
            <a:endParaRPr sz="2100">
              <a:solidFill>
                <a:srgbClr val="434343"/>
              </a:solidFill>
            </a:endParaRPr>
          </a:p>
        </p:txBody>
      </p:sp>
      <p:sp>
        <p:nvSpPr>
          <p:cNvPr id="323" name="Google Shape;323;g3910d4bad43_0_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g3910d4bad43_0_17"/>
          <p:cNvSpPr txBox="1"/>
          <p:nvPr>
            <p:ph idx="1" type="body"/>
          </p:nvPr>
        </p:nvSpPr>
        <p:spPr>
          <a:xfrm>
            <a:off x="4712950" y="1995850"/>
            <a:ext cx="42003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Animaciones avanzadas</a:t>
            </a:r>
            <a:endParaRPr b="1"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Aplicar animaciones y transiciones que mejoren la narrativa sin distraer del mensaje</a:t>
            </a:r>
            <a:endParaRPr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Organización efectiva</a:t>
            </a:r>
            <a:endParaRPr b="1"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Estructurar presentaciones extensas utilizando secciones y navegación inteligente</a:t>
            </a:r>
            <a:endParaRPr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Plantillas corporativas</a:t>
            </a:r>
            <a:endParaRPr b="1"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Crear y administrar plantillas reutilizables que cumplan con la identidad de BlueSky Financial</a:t>
            </a:r>
            <a:endParaRPr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10d4bad43_0_27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Patrón de Diapositivas</a:t>
            </a:r>
            <a:endParaRPr/>
          </a:p>
        </p:txBody>
      </p:sp>
      <p:sp>
        <p:nvSpPr>
          <p:cNvPr id="330" name="Google Shape;330;g3910d4bad43_0_27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600">
                <a:latin typeface="Barlow"/>
                <a:ea typeface="Barlow"/>
                <a:cs typeface="Barlow"/>
                <a:sym typeface="Barlow"/>
              </a:rPr>
              <a:t>¿Qué es?</a:t>
            </a:r>
            <a:endParaRPr b="1" sz="26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El Patrón de diapositivas es la estructura base que controla el diseño, formato y elementos visuales de todas las diapositivas en tu presentación. Es la clave para mantener coherencia profesional.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31" name="Google Shape;331;g3910d4bad43_0_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10d4bad43_0_33"/>
          <p:cNvSpPr txBox="1"/>
          <p:nvPr>
            <p:ph type="title"/>
          </p:nvPr>
        </p:nvSpPr>
        <p:spPr>
          <a:xfrm>
            <a:off x="457200" y="343370"/>
            <a:ext cx="7316100" cy="6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Cómo usarlo – Paso a paso</a:t>
            </a:r>
            <a:endParaRPr sz="4600"/>
          </a:p>
        </p:txBody>
      </p:sp>
      <p:sp>
        <p:nvSpPr>
          <p:cNvPr id="337" name="Google Shape;337;g3910d4bad43_0_33"/>
          <p:cNvSpPr txBox="1"/>
          <p:nvPr>
            <p:ph idx="1" type="body"/>
          </p:nvPr>
        </p:nvSpPr>
        <p:spPr>
          <a:xfrm>
            <a:off x="3303900" y="1376284"/>
            <a:ext cx="2536200" cy="14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Seleccionar base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En el panel izquierdo, seleccionar la diapositiva maestra principal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338" name="Google Shape;338;g3910d4bad43_0_3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g3910d4bad43_0_33"/>
          <p:cNvSpPr txBox="1"/>
          <p:nvPr>
            <p:ph idx="1" type="body"/>
          </p:nvPr>
        </p:nvSpPr>
        <p:spPr>
          <a:xfrm>
            <a:off x="457200" y="1376284"/>
            <a:ext cx="2536200" cy="14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Acceder al patrón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Ir al menú Vista → Patrón de diapositivas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340" name="Google Shape;340;g3910d4bad43_0_33"/>
          <p:cNvSpPr txBox="1"/>
          <p:nvPr>
            <p:ph idx="1" type="body"/>
          </p:nvPr>
        </p:nvSpPr>
        <p:spPr>
          <a:xfrm>
            <a:off x="6150600" y="1376284"/>
            <a:ext cx="2536200" cy="14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Personalizar diseño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Editar colores, fuentes, fondos y elementos fijos como logo y numeración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341" name="Google Shape;341;g3910d4bad43_0_33"/>
          <p:cNvSpPr txBox="1"/>
          <p:nvPr>
            <p:ph idx="1" type="body"/>
          </p:nvPr>
        </p:nvSpPr>
        <p:spPr>
          <a:xfrm>
            <a:off x="4727250" y="2989145"/>
            <a:ext cx="3032100" cy="14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Aplicar cambios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Cerrar la vista del patrón para que los cambios se reflejen automáticamente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342" name="Google Shape;342;g3910d4bad43_0_33"/>
          <p:cNvSpPr txBox="1"/>
          <p:nvPr>
            <p:ph idx="1" type="body"/>
          </p:nvPr>
        </p:nvSpPr>
        <p:spPr>
          <a:xfrm>
            <a:off x="1384575" y="2989145"/>
            <a:ext cx="3032100" cy="14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Agregar marcadores</a:t>
            </a:r>
            <a:endParaRPr b="1" sz="15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Añadir marcadores de posición según las necesidades de tu contenido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343" name="Google Shape;343;g3910d4bad43_0_33"/>
          <p:cNvSpPr txBox="1"/>
          <p:nvPr/>
        </p:nvSpPr>
        <p:spPr>
          <a:xfrm>
            <a:off x="80950" y="1017534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01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4" name="Google Shape;344;g3910d4bad43_0_33"/>
          <p:cNvSpPr txBox="1"/>
          <p:nvPr/>
        </p:nvSpPr>
        <p:spPr>
          <a:xfrm>
            <a:off x="2847000" y="1017534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02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5" name="Google Shape;345;g3910d4bad43_0_33"/>
          <p:cNvSpPr txBox="1"/>
          <p:nvPr/>
        </p:nvSpPr>
        <p:spPr>
          <a:xfrm>
            <a:off x="5613050" y="1017534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03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6" name="Google Shape;346;g3910d4bad43_0_33"/>
          <p:cNvSpPr txBox="1"/>
          <p:nvPr/>
        </p:nvSpPr>
        <p:spPr>
          <a:xfrm>
            <a:off x="849975" y="2653720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7" name="Google Shape;347;g3910d4bad43_0_33"/>
          <p:cNvSpPr txBox="1"/>
          <p:nvPr/>
        </p:nvSpPr>
        <p:spPr>
          <a:xfrm>
            <a:off x="4192650" y="2653720"/>
            <a:ext cx="53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05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8" name="Google Shape;348;g3910d4bad43_0_33"/>
          <p:cNvSpPr/>
          <p:nvPr/>
        </p:nvSpPr>
        <p:spPr>
          <a:xfrm>
            <a:off x="425250" y="4225825"/>
            <a:ext cx="8293500" cy="831900"/>
          </a:xfrm>
          <a:prstGeom prst="foldedCorner">
            <a:avLst>
              <a:gd fmla="val 16667" name="adj"/>
            </a:avLst>
          </a:prstGeom>
          <a:solidFill>
            <a:srgbClr val="E26161">
              <a:alpha val="4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Barlow"/>
                <a:ea typeface="Barlow"/>
                <a:cs typeface="Barlow"/>
                <a:sym typeface="Barlow"/>
              </a:rPr>
              <a:t>Buenas Prácticas Profesionales</a:t>
            </a:r>
            <a:endParaRPr b="1" sz="900">
              <a:latin typeface="Barlow"/>
              <a:ea typeface="Barlow"/>
              <a:cs typeface="Barlow"/>
              <a:sym typeface="Barlow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Barlow Light"/>
              <a:buChar char="●"/>
            </a:pPr>
            <a:r>
              <a:rPr lang="en-US" sz="900">
                <a:latin typeface="Barlow Light"/>
                <a:ea typeface="Barlow Light"/>
                <a:cs typeface="Barlow Light"/>
                <a:sym typeface="Barlow Light"/>
              </a:rPr>
              <a:t>Colocar el logo corporativo solo en el patrón, nunca en cada diapositiva </a:t>
            </a:r>
            <a:endParaRPr sz="9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Barlow Light"/>
                <a:ea typeface="Barlow Light"/>
                <a:cs typeface="Barlow Light"/>
                <a:sym typeface="Barlow Light"/>
              </a:rPr>
              <a:t>individual  </a:t>
            </a:r>
            <a:endParaRPr sz="9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Barlow Light"/>
              <a:buChar char="●"/>
            </a:pPr>
            <a:r>
              <a:rPr lang="en-US" sz="900">
                <a:latin typeface="Barlow Light"/>
                <a:ea typeface="Barlow Light"/>
                <a:cs typeface="Barlow Light"/>
                <a:sym typeface="Barlow Light"/>
              </a:rPr>
              <a:t>Fijar una paleta de colores principales y secundarios coherente con la </a:t>
            </a:r>
            <a:endParaRPr sz="9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Barlow Light"/>
                <a:ea typeface="Barlow Light"/>
                <a:cs typeface="Barlow Light"/>
                <a:sym typeface="Barlow Light"/>
              </a:rPr>
              <a:t>marca</a:t>
            </a:r>
            <a:endParaRPr sz="90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9" name="Google Shape;349;g3910d4bad43_0_33"/>
          <p:cNvSpPr txBox="1"/>
          <p:nvPr/>
        </p:nvSpPr>
        <p:spPr>
          <a:xfrm>
            <a:off x="4497875" y="4383008"/>
            <a:ext cx="405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Barlow Light"/>
              <a:buChar char="●"/>
            </a:pPr>
            <a:r>
              <a:rPr lang="en-US" sz="900">
                <a:latin typeface="Barlow Light"/>
                <a:ea typeface="Barlow Light"/>
                <a:cs typeface="Barlow Light"/>
                <a:sym typeface="Barlow Light"/>
              </a:rPr>
              <a:t>Mantener coherencia tipográfica en todo el documento utilizando máximo 2-3 fuentes</a:t>
            </a:r>
            <a:endParaRPr sz="90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10d4bad43_0_50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Diseños Personalizados</a:t>
            </a:r>
            <a:endParaRPr/>
          </a:p>
        </p:txBody>
      </p:sp>
      <p:sp>
        <p:nvSpPr>
          <p:cNvPr id="355" name="Google Shape;355;g3910d4bad43_0_50"/>
          <p:cNvSpPr txBox="1"/>
          <p:nvPr>
            <p:ph idx="1" type="body"/>
          </p:nvPr>
        </p:nvSpPr>
        <p:spPr>
          <a:xfrm>
            <a:off x="457200" y="1683250"/>
            <a:ext cx="8191800" cy="29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Cómo crearlos: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En Vista → Patrón de diapositivas: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▸"/>
            </a:pPr>
            <a:r>
              <a:rPr lang="en-US" sz="1400"/>
              <a:t>Clic derecho → Insertar diseño.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Activar los marcadores:</a:t>
            </a:r>
            <a:endParaRPr sz="1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/>
              <a:t>título, contenido, dos columnas, imagen + texto, etc.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Ajustar guías para alineación perfecta.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Guardar el diseño.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Aplicar</a:t>
            </a:r>
            <a:r>
              <a:rPr lang="en-US" sz="1400"/>
              <a:t> desde Inicio → </a:t>
            </a: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Diseño</a:t>
            </a:r>
            <a:r>
              <a:rPr lang="en-US" sz="1400"/>
              <a:t>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Consejo profesional: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/>
              <a:t>Usar diseños personalizados permite crear plantillas estandarizadas para distintas áreas de la empresa.</a:t>
            </a:r>
            <a:endParaRPr sz="1400"/>
          </a:p>
        </p:txBody>
      </p:sp>
      <p:sp>
        <p:nvSpPr>
          <p:cNvPr id="356" name="Google Shape;356;g3910d4bad43_0_5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10d4bad43_0_59"/>
          <p:cNvSpPr txBox="1"/>
          <p:nvPr>
            <p:ph type="title"/>
          </p:nvPr>
        </p:nvSpPr>
        <p:spPr>
          <a:xfrm>
            <a:off x="457200" y="278650"/>
            <a:ext cx="7306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Insertar y Editar Imágenes</a:t>
            </a:r>
            <a:endParaRPr/>
          </a:p>
        </p:txBody>
      </p:sp>
      <p:sp>
        <p:nvSpPr>
          <p:cNvPr id="362" name="Google Shape;362;g3910d4bad43_0_59"/>
          <p:cNvSpPr txBox="1"/>
          <p:nvPr>
            <p:ph idx="1" type="body"/>
          </p:nvPr>
        </p:nvSpPr>
        <p:spPr>
          <a:xfrm>
            <a:off x="312075" y="1165500"/>
            <a:ext cx="4206900" cy="34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Insertar imagen: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n-US" sz="1400"/>
              <a:t>Insertar → Imágenes (desde archivo o internet).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Edición intermedia: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Quitar fondo:</a:t>
            </a:r>
            <a:endParaRPr sz="1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/>
              <a:t>Formato de imagen → Quitar fondo → Marcar áreas para conservar.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Recorte básico:</a:t>
            </a:r>
            <a:endParaRPr sz="1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/>
              <a:t>Formato de imagen → Recortar → Ajustar manualmente.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Estilos de imagen:</a:t>
            </a:r>
            <a:endParaRPr sz="1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/>
              <a:t>sombras, brillos, bordes redondeados.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Correcciones:</a:t>
            </a:r>
            <a:endParaRPr sz="14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/>
              <a:t>brillo, contraste, saturación.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63" name="Google Shape;363;g3910d4bad43_0_5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g3910d4bad43_0_59"/>
          <p:cNvSpPr txBox="1"/>
          <p:nvPr>
            <p:ph idx="1" type="body"/>
          </p:nvPr>
        </p:nvSpPr>
        <p:spPr>
          <a:xfrm>
            <a:off x="4518975" y="1165500"/>
            <a:ext cx="4206900" cy="34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latin typeface="Barlow"/>
                <a:ea typeface="Barlow"/>
                <a:cs typeface="Barlow"/>
                <a:sym typeface="Barlow"/>
              </a:rPr>
              <a:t>Buenas prácticas: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n-US" sz="1400"/>
              <a:t>Usar imágenes en alta resolución.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▸"/>
            </a:pPr>
            <a:r>
              <a:rPr lang="en-US" sz="1400"/>
              <a:t>Evitar distorsionar al cambiar tamaño (mantener SHIFT si corresponde).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▸"/>
            </a:pPr>
            <a:r>
              <a:rPr lang="en-US" sz="1400"/>
              <a:t>Mantener coherencia visual entre imágenes.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10d4bad43_0_65"/>
          <p:cNvSpPr txBox="1"/>
          <p:nvPr>
            <p:ph type="title"/>
          </p:nvPr>
        </p:nvSpPr>
        <p:spPr>
          <a:xfrm>
            <a:off x="457200" y="278650"/>
            <a:ext cx="74457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Uso de Íconos e Ilustraciones</a:t>
            </a:r>
            <a:endParaRPr sz="4400"/>
          </a:p>
        </p:txBody>
      </p:sp>
      <p:sp>
        <p:nvSpPr>
          <p:cNvPr id="370" name="Google Shape;370;g3910d4bad43_0_65"/>
          <p:cNvSpPr txBox="1"/>
          <p:nvPr>
            <p:ph idx="1" type="body"/>
          </p:nvPr>
        </p:nvSpPr>
        <p:spPr>
          <a:xfrm>
            <a:off x="457200" y="1184000"/>
            <a:ext cx="6179100" cy="3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Cómo insertar: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Insertar → Íconos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Buscar por categoría: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Negocios, educación, flechas, diagramas.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Edición: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Cambiar color del ícono desde Formato gráfico.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Combinar varios íconos para construir infografías simples.</a:t>
            </a:r>
            <a:endParaRPr/>
          </a:p>
        </p:txBody>
      </p:sp>
      <p:sp>
        <p:nvSpPr>
          <p:cNvPr id="371" name="Google Shape;371;g3910d4bad43_0_6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10d4bad43_0_71"/>
          <p:cNvSpPr txBox="1"/>
          <p:nvPr>
            <p:ph type="title"/>
          </p:nvPr>
        </p:nvSpPr>
        <p:spPr>
          <a:xfrm>
            <a:off x="457200" y="278650"/>
            <a:ext cx="7306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SmartArt – Diagramas Profesionales</a:t>
            </a:r>
            <a:endParaRPr/>
          </a:p>
        </p:txBody>
      </p:sp>
      <p:sp>
        <p:nvSpPr>
          <p:cNvPr id="377" name="Google Shape;377;g3910d4bad43_0_71"/>
          <p:cNvSpPr txBox="1"/>
          <p:nvPr>
            <p:ph idx="1" type="body"/>
          </p:nvPr>
        </p:nvSpPr>
        <p:spPr>
          <a:xfrm>
            <a:off x="457200" y="1995750"/>
            <a:ext cx="37752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Insertar un SmartArt: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Insertar → SmartArt.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Elegir tipo según necesidad: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Proceso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Jerarquía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Ciclo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Relación</a:t>
            </a:r>
            <a:endParaRPr/>
          </a:p>
        </p:txBody>
      </p:sp>
      <p:sp>
        <p:nvSpPr>
          <p:cNvPr id="378" name="Google Shape;378;g3910d4bad43_0_7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g3910d4bad43_0_71"/>
          <p:cNvSpPr txBox="1"/>
          <p:nvPr>
            <p:ph idx="1" type="body"/>
          </p:nvPr>
        </p:nvSpPr>
        <p:spPr>
          <a:xfrm>
            <a:off x="4691788" y="1995750"/>
            <a:ext cx="37752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Edición: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Agregar niveles desde el panel izquierdo.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Cambiar colores y estilos.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Animar cada elemento del SmartArt si es necesario.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10d4bad43_0_77"/>
          <p:cNvSpPr txBox="1"/>
          <p:nvPr>
            <p:ph type="title"/>
          </p:nvPr>
        </p:nvSpPr>
        <p:spPr>
          <a:xfrm>
            <a:off x="457200" y="278650"/>
            <a:ext cx="7112700" cy="6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Gráficos Avanzados</a:t>
            </a:r>
            <a:endParaRPr/>
          </a:p>
        </p:txBody>
      </p:sp>
      <p:sp>
        <p:nvSpPr>
          <p:cNvPr id="385" name="Google Shape;385;g3910d4bad43_0_77"/>
          <p:cNvSpPr txBox="1"/>
          <p:nvPr>
            <p:ph idx="1" type="body"/>
          </p:nvPr>
        </p:nvSpPr>
        <p:spPr>
          <a:xfrm>
            <a:off x="476075" y="1350550"/>
            <a:ext cx="3978600" cy="3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Insertar un gráfico: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Insertar → Gráfico.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Seleccionar tipo: columnas, líneas, circulares.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Editar datos: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PowerPoint abre un mini Excel: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editar valores, series y etiquetas.</a:t>
            </a:r>
            <a:endParaRPr sz="1800"/>
          </a:p>
        </p:txBody>
      </p:sp>
      <p:sp>
        <p:nvSpPr>
          <p:cNvPr id="386" name="Google Shape;386;g3910d4bad43_0_7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g3910d4bad43_0_77"/>
          <p:cNvSpPr txBox="1"/>
          <p:nvPr>
            <p:ph idx="1" type="body"/>
          </p:nvPr>
        </p:nvSpPr>
        <p:spPr>
          <a:xfrm>
            <a:off x="4689300" y="1350550"/>
            <a:ext cx="3978600" cy="3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latin typeface="Barlow"/>
                <a:ea typeface="Barlow"/>
                <a:cs typeface="Barlow"/>
                <a:sym typeface="Barlow"/>
              </a:rPr>
              <a:t>Personalización:</a:t>
            </a:r>
            <a:endParaRPr b="1" sz="1800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Aplicar Estilos rápidos.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Ajustar: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colores corporativos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tamaños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etiquetas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líneas de cuadrícula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10d4bad43_0_83"/>
          <p:cNvSpPr txBox="1"/>
          <p:nvPr>
            <p:ph type="title"/>
          </p:nvPr>
        </p:nvSpPr>
        <p:spPr>
          <a:xfrm>
            <a:off x="457200" y="278650"/>
            <a:ext cx="7223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Animaciones Avanzadas</a:t>
            </a:r>
            <a:endParaRPr/>
          </a:p>
        </p:txBody>
      </p:sp>
      <p:sp>
        <p:nvSpPr>
          <p:cNvPr id="393" name="Google Shape;393;g3910d4bad43_0_83"/>
          <p:cNvSpPr txBox="1"/>
          <p:nvPr>
            <p:ph idx="1" type="body"/>
          </p:nvPr>
        </p:nvSpPr>
        <p:spPr>
          <a:xfrm>
            <a:off x="457200" y="1479850"/>
            <a:ext cx="3654900" cy="31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latin typeface="Barlow"/>
                <a:ea typeface="Barlow"/>
                <a:cs typeface="Barlow"/>
                <a:sym typeface="Barlow"/>
              </a:rPr>
              <a:t>Aplicar animaciones correctamente:</a:t>
            </a:r>
            <a:endParaRPr b="1"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Seleccionar un objeto → Animaciones.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Elegir tipo de animación: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-US" sz="1500"/>
              <a:t>Entrada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-US" sz="1500"/>
              <a:t>Énfasis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-US" sz="1500"/>
              <a:t>Salida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-US" sz="1500"/>
              <a:t>Trayectoria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Usar el Panel de animación para ordenarlas.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Combinar varias animaciones por objeto cuando sea necesario.</a:t>
            </a:r>
            <a:endParaRPr sz="1300"/>
          </a:p>
        </p:txBody>
      </p:sp>
      <p:sp>
        <p:nvSpPr>
          <p:cNvPr id="394" name="Google Shape;394;g3910d4bad43_0_8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g3910d4bad43_0_83"/>
          <p:cNvSpPr txBox="1"/>
          <p:nvPr>
            <p:ph idx="1" type="body"/>
          </p:nvPr>
        </p:nvSpPr>
        <p:spPr>
          <a:xfrm>
            <a:off x="4439400" y="1479850"/>
            <a:ext cx="3654900" cy="31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latin typeface="Barlow"/>
                <a:ea typeface="Barlow"/>
                <a:cs typeface="Barlow"/>
                <a:sym typeface="Barlow"/>
              </a:rPr>
              <a:t>Recomendación:</a:t>
            </a:r>
            <a:endParaRPr b="1" sz="1500"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-US" sz="1500"/>
              <a:t>No abusar.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-US" sz="1500"/>
              <a:t>Preferir animaciones suaves y corporativas.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10d4bad43_0_89"/>
          <p:cNvSpPr txBox="1"/>
          <p:nvPr>
            <p:ph type="title"/>
          </p:nvPr>
        </p:nvSpPr>
        <p:spPr>
          <a:xfrm>
            <a:off x="457200" y="278650"/>
            <a:ext cx="7353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Transiciones Profesionales</a:t>
            </a:r>
            <a:endParaRPr/>
          </a:p>
        </p:txBody>
      </p:sp>
      <p:sp>
        <p:nvSpPr>
          <p:cNvPr id="401" name="Google Shape;401;g3910d4bad43_0_89"/>
          <p:cNvSpPr txBox="1"/>
          <p:nvPr>
            <p:ph idx="1" type="body"/>
          </p:nvPr>
        </p:nvSpPr>
        <p:spPr>
          <a:xfrm>
            <a:off x="457200" y="1361350"/>
            <a:ext cx="5640900" cy="318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Cómo aplicarlas: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Ir a Transiciones.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Elegir una transición suave: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fundido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barrido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desvanecer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Ajustar duración.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Aplicar a una sola diapositiva o a todas.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Consejo: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/>
              <a:t>Evitar transiciones llamativas (cortinas, rombo, cubo) en contextos corporativos.</a:t>
            </a:r>
            <a:endParaRPr sz="1600"/>
          </a:p>
        </p:txBody>
      </p:sp>
      <p:sp>
        <p:nvSpPr>
          <p:cNvPr id="402" name="Google Shape;402;g3910d4bad43_0_8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10d4bad43_0_95"/>
          <p:cNvSpPr txBox="1"/>
          <p:nvPr>
            <p:ph type="title"/>
          </p:nvPr>
        </p:nvSpPr>
        <p:spPr>
          <a:xfrm>
            <a:off x="457200" y="278650"/>
            <a:ext cx="7177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Insertar Video y Audio</a:t>
            </a:r>
            <a:endParaRPr/>
          </a:p>
        </p:txBody>
      </p:sp>
      <p:sp>
        <p:nvSpPr>
          <p:cNvPr id="408" name="Google Shape;408;g3910d4bad43_0_95"/>
          <p:cNvSpPr txBox="1"/>
          <p:nvPr>
            <p:ph idx="1" type="body"/>
          </p:nvPr>
        </p:nvSpPr>
        <p:spPr>
          <a:xfrm>
            <a:off x="457200" y="1361350"/>
            <a:ext cx="5640900" cy="3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Insertar video: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Insertar → Video → Archivo local.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Configurar reproducción: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automática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al hacer clic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Insertar audio: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Insertar → Audio → Archivo de sonido.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Ajustar volumen y recortar fragmentos.</a:t>
            </a:r>
            <a:endParaRPr sz="16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Ocultar ícono durante la presentación: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-US" sz="1600"/>
              <a:t>Formato del audio → Ocultar durante presentación.</a:t>
            </a:r>
            <a:endParaRPr sz="1600"/>
          </a:p>
        </p:txBody>
      </p:sp>
      <p:sp>
        <p:nvSpPr>
          <p:cNvPr id="409" name="Google Shape;409;g3910d4bad43_0_9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910d4bad43_0_101"/>
          <p:cNvSpPr txBox="1"/>
          <p:nvPr>
            <p:ph type="title"/>
          </p:nvPr>
        </p:nvSpPr>
        <p:spPr>
          <a:xfrm>
            <a:off x="457200" y="278650"/>
            <a:ext cx="7408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Organizar Presentaciones Largas</a:t>
            </a:r>
            <a:endParaRPr sz="3900"/>
          </a:p>
        </p:txBody>
      </p:sp>
      <p:sp>
        <p:nvSpPr>
          <p:cNvPr id="415" name="Google Shape;415;g3910d4bad43_0_101"/>
          <p:cNvSpPr txBox="1"/>
          <p:nvPr>
            <p:ph idx="1" type="body"/>
          </p:nvPr>
        </p:nvSpPr>
        <p:spPr>
          <a:xfrm>
            <a:off x="457200" y="1361350"/>
            <a:ext cx="5640900" cy="3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Herramientas clave: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Vista → </a:t>
            </a: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Clasificador de diapositivas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Crear secciones: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Introducción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Contenidos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Módulos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Cierre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Mover bloques completos de diapositivas.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Ocultar diapositivas que no deben verse.</a:t>
            </a:r>
            <a:endParaRPr sz="1600"/>
          </a:p>
        </p:txBody>
      </p:sp>
      <p:sp>
        <p:nvSpPr>
          <p:cNvPr id="416" name="Google Shape;416;g3910d4bad43_0_10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10d4bad43_0_107"/>
          <p:cNvSpPr txBox="1"/>
          <p:nvPr>
            <p:ph type="title"/>
          </p:nvPr>
        </p:nvSpPr>
        <p:spPr>
          <a:xfrm>
            <a:off x="457200" y="278650"/>
            <a:ext cx="74364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Crear Plantillas Corporativas</a:t>
            </a:r>
            <a:endParaRPr sz="4600"/>
          </a:p>
        </p:txBody>
      </p:sp>
      <p:sp>
        <p:nvSpPr>
          <p:cNvPr id="422" name="Google Shape;422;g3910d4bad43_0_107"/>
          <p:cNvSpPr txBox="1"/>
          <p:nvPr>
            <p:ph idx="1" type="body"/>
          </p:nvPr>
        </p:nvSpPr>
        <p:spPr>
          <a:xfrm>
            <a:off x="457200" y="1361350"/>
            <a:ext cx="5640900" cy="3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Cómo hacerlo: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Archivo → Guardar como → Plantilla (.potx).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Incluir: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logo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colores corporativos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tipografía oficial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▹"/>
            </a:pPr>
            <a:r>
              <a:rPr lang="en-US" sz="1600"/>
              <a:t>patrones y diseños personalizados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latin typeface="Barlow"/>
                <a:ea typeface="Barlow"/>
                <a:cs typeface="Barlow"/>
                <a:sym typeface="Barlow"/>
              </a:rPr>
              <a:t>Uso posterior:</a:t>
            </a:r>
            <a:endParaRPr b="1" sz="1600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Flujos de trabajo consistentes entre equipos.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Estándares visuales Shared por toda la empresa.</a:t>
            </a:r>
            <a:endParaRPr sz="1600"/>
          </a:p>
        </p:txBody>
      </p:sp>
      <p:sp>
        <p:nvSpPr>
          <p:cNvPr id="423" name="Google Shape;423;g3910d4bad43_0_10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 txBox="1"/>
          <p:nvPr>
            <p:ph type="title"/>
          </p:nvPr>
        </p:nvSpPr>
        <p:spPr>
          <a:xfrm>
            <a:off x="457200" y="27865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>
                <a:latin typeface="Raleway"/>
                <a:ea typeface="Raleway"/>
                <a:cs typeface="Raleway"/>
                <a:sym typeface="Raleway"/>
              </a:rPr>
              <a:t>Conclusión</a:t>
            </a:r>
            <a:endParaRPr sz="2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i="1" lang="en-US" sz="2000">
                <a:latin typeface="Raleway"/>
                <a:ea typeface="Raleway"/>
                <a:cs typeface="Raleway"/>
                <a:sym typeface="Raleway"/>
              </a:rPr>
              <a:t>Cierre del Curso PowerPoint Intermedio</a:t>
            </a:r>
            <a:endParaRPr i="1" sz="2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2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9" name="Google Shape;429;p1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Ahora conoces herramientas intermedias para crear presentaciones profesionales.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b="1" lang="en-US">
                <a:latin typeface="Barlow"/>
                <a:ea typeface="Barlow"/>
                <a:cs typeface="Barlow"/>
                <a:sym typeface="Barlow"/>
              </a:rPr>
              <a:t>Recomendación</a:t>
            </a:r>
            <a:r>
              <a:rPr lang="en-US"/>
              <a:t>:</a:t>
            </a:r>
            <a:endParaRPr/>
          </a:p>
          <a:p>
            <a:pPr indent="0" lvl="0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Practicar creando tu propia plantilla corporativa BlueSky.</a:t>
            </a:r>
            <a:endParaRPr/>
          </a:p>
        </p:txBody>
      </p:sp>
      <p:sp>
        <p:nvSpPr>
          <p:cNvPr id="430" name="Google Shape;430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