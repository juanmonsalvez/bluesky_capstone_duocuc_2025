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aleway Thin"/>
      <p:regular r:id="rId16"/>
      <p:bold r:id="rId17"/>
      <p:italic r:id="rId18"/>
      <p:boldItalic r:id="rId19"/>
    </p:embeddedFont>
    <p:embeddedFont>
      <p:font typeface="Barlow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mLJTmlEqzJkY+H6Z1YCXMPjdP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Light-regular.fntdata"/><Relationship Id="rId11" Type="http://schemas.openxmlformats.org/officeDocument/2006/relationships/slide" Target="slides/slide7.xml"/><Relationship Id="rId22" Type="http://schemas.openxmlformats.org/officeDocument/2006/relationships/font" Target="fonts/BarlowLight-italic.fntdata"/><Relationship Id="rId10" Type="http://schemas.openxmlformats.org/officeDocument/2006/relationships/slide" Target="slides/slide6.xml"/><Relationship Id="rId21" Type="http://schemas.openxmlformats.org/officeDocument/2006/relationships/font" Target="fonts/BarlowLight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Barlow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Thin-bold.fntdata"/><Relationship Id="rId16" Type="http://schemas.openxmlformats.org/officeDocument/2006/relationships/font" Target="fonts/RalewayThin-regular.fntdata"/><Relationship Id="rId5" Type="http://schemas.openxmlformats.org/officeDocument/2006/relationships/slide" Target="slides/slide1.xml"/><Relationship Id="rId19" Type="http://schemas.openxmlformats.org/officeDocument/2006/relationships/font" Target="fonts/RalewayThin-boldItalic.fntdata"/><Relationship Id="rId6" Type="http://schemas.openxmlformats.org/officeDocument/2006/relationships/slide" Target="slides/slide2.xml"/><Relationship Id="rId18" Type="http://schemas.openxmlformats.org/officeDocument/2006/relationships/font" Target="fonts/RalewayThin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c212c11d8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8c212c11d8_1_2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8" name="Google Shape;99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2" name="Google Shape;10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2" name="Google Shape;12;p1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3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id="20" name="Google Shape;20;p15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id="9" name="Google Shape;9;p12" title="BlueSky completo azul (1).png"/>
          <p:cNvPicPr preferRelativeResize="0"/>
          <p:nvPr/>
        </p:nvPicPr>
        <p:blipFill rotWithShape="1">
          <a:blip r:embed="rId1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26" name="Google Shape;26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27" name="Google Shape;27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5" name="Google Shape;165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66" name="Google Shape;166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" name="Google Shape;183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4" name="Google Shape;184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5" name="Google Shape;215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1" name="Google Shape;251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2" name="Google Shape;252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58" name="Google Shape;258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" name="Google Shape;265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66" name="Google Shape;266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2" name="Google Shape;292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3" name="Google Shape;293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11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" name="Google Shape;298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0" name="Google Shape;300;p1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4000"/>
              <a:t>Educación Financiera</a:t>
            </a:r>
            <a:endParaRPr/>
          </a:p>
        </p:txBody>
      </p:sp>
      <p:sp>
        <p:nvSpPr>
          <p:cNvPr id="301" name="Google Shape;301;p1"/>
          <p:cNvSpPr/>
          <p:nvPr/>
        </p:nvSpPr>
        <p:spPr>
          <a:xfrm>
            <a:off x="375859" y="2952738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c212c11d8_1_27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Objetivo General</a:t>
            </a:r>
            <a:endParaRPr sz="2800"/>
          </a:p>
        </p:txBody>
      </p:sp>
      <p:sp>
        <p:nvSpPr>
          <p:cNvPr id="307" name="Google Shape;307;g38c212c11d8_1_279"/>
          <p:cNvSpPr txBox="1"/>
          <p:nvPr>
            <p:ph idx="1" type="body"/>
          </p:nvPr>
        </p:nvSpPr>
        <p:spPr>
          <a:xfrm>
            <a:off x="457200" y="1166175"/>
            <a:ext cx="72039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Fortalecer las competencias financieras personales mediante la comprensión integral de los conceptos, herramientas y estrategias esenciales para una gestión responsable del dinero.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El curso busca que los participantes sean capaces de evaluar su situación económica, planificar presupuestos, controlar gastos y establecer metas financieras realistas.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También se pretende que comprendan los riesgos asociados al endeudamiento, adopten estrategias efectivas para pagar deudas y den sus primeros pasos en el mundo de la inversión y planificación financiera.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308" name="Google Shape;308;g38c212c11d8_1_27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"/>
          <p:cNvSpPr txBox="1"/>
          <p:nvPr>
            <p:ph type="title"/>
          </p:nvPr>
        </p:nvSpPr>
        <p:spPr>
          <a:xfrm>
            <a:off x="457200" y="273512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1 · </a:t>
            </a:r>
            <a:r>
              <a:rPr lang="es-MX" sz="2800">
                <a:solidFill>
                  <a:srgbClr val="007BB9"/>
                </a:solidFill>
              </a:rPr>
              <a:t>Fundamentos financieros</a:t>
            </a:r>
            <a:endParaRPr sz="2800"/>
          </a:p>
        </p:txBody>
      </p:sp>
      <p:sp>
        <p:nvSpPr>
          <p:cNvPr id="314" name="Google Shape;314;p16"/>
          <p:cNvSpPr txBox="1"/>
          <p:nvPr>
            <p:ph idx="1" type="body"/>
          </p:nvPr>
        </p:nvSpPr>
        <p:spPr>
          <a:xfrm>
            <a:off x="278025" y="1011725"/>
            <a:ext cx="8634300" cy="3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Objetivo: Comprender los conceptos básicos de las finanzas personales.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Conceptos clave:</a:t>
            </a:r>
            <a:endParaRPr sz="16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- Ingreso: Todo el dinero que recibes (sueldos, honorarios, intereses, etc.).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- Gasto: Todo lo que pagas (cuentas, alimentación, transporte, etc.).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- Ahorro: Diferencia positiva entre ingresos y gastos; base para tus metas.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- Patrimonio: Valor total de tus bienes menos tus deudas.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- Flujo de caja: Movimiento de entrada y salida de dinero en un periodo determinado.</a:t>
            </a:r>
            <a:endParaRPr sz="16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Ejemplo práctico: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Si tus ingresos mensuales son $800.000 y tus gastos $650.000, tu flujo de caja es $150.000, que puedes destinar al ahorro o inversión.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315" name="Google Shape;315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Inflación e Interés Compuesto</a:t>
            </a:r>
            <a:endParaRPr sz="2800"/>
          </a:p>
        </p:txBody>
      </p:sp>
      <p:sp>
        <p:nvSpPr>
          <p:cNvPr id="321" name="Google Shape;321;p17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Inflación: Aumento general de precios con el tiempo; reduce el poder adquisitivo del dinero.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Interés simple: Gana intereses solo sobre el capital inicial.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500"/>
              </a:spcAft>
              <a:buSzPts val="1800"/>
              <a:buChar char="▸"/>
            </a:pPr>
            <a:r>
              <a:rPr lang="es-MX" sz="1600"/>
              <a:t>Interés compuesto: Gana intereses sobre el capital y sobre los intereses generados previamente.</a:t>
            </a:r>
            <a:endParaRPr sz="1600"/>
          </a:p>
        </p:txBody>
      </p:sp>
      <p:sp>
        <p:nvSpPr>
          <p:cNvPr id="322" name="Google Shape;322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2 · </a:t>
            </a:r>
            <a:r>
              <a:rPr lang="es-MX" sz="2800">
                <a:solidFill>
                  <a:srgbClr val="007BB9"/>
                </a:solidFill>
              </a:rPr>
              <a:t>Presupuesto y ahorro</a:t>
            </a:r>
            <a:endParaRPr sz="2800"/>
          </a:p>
        </p:txBody>
      </p:sp>
      <p:sp>
        <p:nvSpPr>
          <p:cNvPr id="328" name="Google Shape;328;p5"/>
          <p:cNvSpPr txBox="1"/>
          <p:nvPr>
            <p:ph idx="1" type="body"/>
          </p:nvPr>
        </p:nvSpPr>
        <p:spPr>
          <a:xfrm>
            <a:off x="457200" y="1312900"/>
            <a:ext cx="70572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Objetivo: Aprender a organizar tu dinero y establecer metas SMART.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Método 50/30/20: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- 50% Necesidades (vivienda, alimentación, transporte).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- 30% Deseos (ocio, salidas, compras personales).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- 20% Ahorro e inversión.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500"/>
              </a:spcAft>
              <a:buSzPts val="1800"/>
              <a:buChar char="▸"/>
            </a:pPr>
            <a:r>
              <a:rPr lang="es-MX"/>
              <a:t>Consejo: Automatiza tu ahorro apenas recibas tu ingreso mensual, así no dependes de la fuerza de voluntad.</a:t>
            </a:r>
            <a:endParaRPr/>
          </a:p>
        </p:txBody>
      </p:sp>
      <p:grpSp>
        <p:nvGrpSpPr>
          <p:cNvPr id="329" name="Google Shape;329;p5"/>
          <p:cNvGrpSpPr/>
          <p:nvPr/>
        </p:nvGrpSpPr>
        <p:grpSpPr>
          <a:xfrm>
            <a:off x="7670820" y="3874023"/>
            <a:ext cx="1315046" cy="1140134"/>
            <a:chOff x="1926580" y="602477"/>
            <a:chExt cx="4456273" cy="4762466"/>
          </a:xfrm>
        </p:grpSpPr>
        <p:sp>
          <p:nvSpPr>
            <p:cNvPr id="330" name="Google Shape;330;p5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6" name="Google Shape;476;p5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477" name="Google Shape;477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2" name="Google Shape;482;p5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Fondo de Emergencia y Metas</a:t>
            </a:r>
            <a:endParaRPr sz="2800"/>
          </a:p>
        </p:txBody>
      </p:sp>
      <p:sp>
        <p:nvSpPr>
          <p:cNvPr id="490" name="Google Shape;490;p6"/>
          <p:cNvSpPr txBox="1"/>
          <p:nvPr>
            <p:ph idx="1" type="body"/>
          </p:nvPr>
        </p:nvSpPr>
        <p:spPr>
          <a:xfrm>
            <a:off x="457200" y="1243397"/>
            <a:ext cx="6810000" cy="3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Fondo de emergencia: Ahorro destinado a imprevistos (enfermedades, reparaciones, pérdida de empleo).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Debe cubrir entre 3 y 6 meses de tus gastos fijos mensuales.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Metas SMART: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Específicas, Medibles, Alcanzables, Relevantes y Temporales.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Ejemplo: 'Ahorrar $500.000 en 6 meses para vacaciones.'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Control de gastos: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Usa planillas o apps para registrar cada gasto.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500"/>
              </a:spcAft>
              <a:buSzPts val="1800"/>
              <a:buChar char="▸"/>
            </a:pPr>
            <a:r>
              <a:rPr lang="es-MX" sz="1800"/>
              <a:t>- Analiza tus hábitos y ajusta tus prioridades.</a:t>
            </a:r>
            <a:endParaRPr/>
          </a:p>
        </p:txBody>
      </p:sp>
      <p:grpSp>
        <p:nvGrpSpPr>
          <p:cNvPr id="491" name="Google Shape;491;p6"/>
          <p:cNvGrpSpPr/>
          <p:nvPr/>
        </p:nvGrpSpPr>
        <p:grpSpPr>
          <a:xfrm>
            <a:off x="7361408" y="3083649"/>
            <a:ext cx="1702500" cy="1812070"/>
            <a:chOff x="2011725" y="44285"/>
            <a:chExt cx="4684870" cy="4762340"/>
          </a:xfrm>
        </p:grpSpPr>
        <p:grpSp>
          <p:nvGrpSpPr>
            <p:cNvPr id="492" name="Google Shape;492;p6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493" name="Google Shape;493;p6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6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6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6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6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6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6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6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6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6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6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6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6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6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6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6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6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6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6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6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6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6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6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6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6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6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6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6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6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6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6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6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6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6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6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6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6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6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6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6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6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6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6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6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6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0" name="Google Shape;600;p6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1" name="Google Shape;741;p6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742" name="Google Shape;742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7" name="Google Shape;747;p6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748" name="Google Shape;748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3" name="Google Shape;753;p6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5" name="Google Shape;755;p6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756" name="Google Shape;756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1" name="Google Shape;761;p6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3" name="Google Shape;763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"/>
          <p:cNvSpPr txBox="1"/>
          <p:nvPr>
            <p:ph type="title"/>
          </p:nvPr>
        </p:nvSpPr>
        <p:spPr>
          <a:xfrm>
            <a:off x="457200" y="293475"/>
            <a:ext cx="5640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</a:t>
            </a:r>
            <a:r>
              <a:rPr lang="es-MX" sz="2800"/>
              <a:t> 3: Deudas y Crédito</a:t>
            </a:r>
            <a:endParaRPr sz="2800"/>
          </a:p>
        </p:txBody>
      </p:sp>
      <p:sp>
        <p:nvSpPr>
          <p:cNvPr id="769" name="Google Shape;769;p7"/>
          <p:cNvSpPr txBox="1"/>
          <p:nvPr>
            <p:ph idx="1" type="body"/>
          </p:nvPr>
        </p:nvSpPr>
        <p:spPr>
          <a:xfrm>
            <a:off x="457200" y="1003995"/>
            <a:ext cx="8331600" cy="3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Objetivo: Comprender el uso responsable del crédito y las estrategias de pago.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Tipos de deuda: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De consumo (tarjetas, créditos personales).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Hipotecaria (vivienda).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Educativa (estudios o capacitación).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Costo real del crédito: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Considera tasa de interés, CAE/TCEA y comisiones.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500"/>
              </a:spcAft>
              <a:buSzPts val="1800"/>
              <a:buChar char="▸"/>
            </a:pPr>
            <a:r>
              <a:rPr lang="es-MX" sz="1800"/>
              <a:t>- No te fijes solo en la cuota mensual; revisa el monto total a pagar.</a:t>
            </a:r>
            <a:endParaRPr/>
          </a:p>
        </p:txBody>
      </p:sp>
      <p:grpSp>
        <p:nvGrpSpPr>
          <p:cNvPr id="770" name="Google Shape;770;p7"/>
          <p:cNvGrpSpPr/>
          <p:nvPr/>
        </p:nvGrpSpPr>
        <p:grpSpPr>
          <a:xfrm>
            <a:off x="7680370" y="3099032"/>
            <a:ext cx="1407494" cy="1561150"/>
            <a:chOff x="2152750" y="190500"/>
            <a:chExt cx="4293756" cy="4762499"/>
          </a:xfrm>
        </p:grpSpPr>
        <p:sp>
          <p:nvSpPr>
            <p:cNvPr id="771" name="Google Shape;771;p7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7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7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7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7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7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7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7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7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7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7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7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7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7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7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5" name="Google Shape;845;p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846" name="Google Shape;846;p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5" name="Google Shape;855;p7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856" name="Google Shape;856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1" name="Google Shape;861;p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9" name="Google Shape;879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8"/>
          <p:cNvSpPr txBox="1"/>
          <p:nvPr>
            <p:ph type="title"/>
          </p:nvPr>
        </p:nvSpPr>
        <p:spPr>
          <a:xfrm>
            <a:off x="418575" y="3198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Estrategias para pagar deudas</a:t>
            </a:r>
            <a:endParaRPr sz="2800"/>
          </a:p>
        </p:txBody>
      </p:sp>
      <p:sp>
        <p:nvSpPr>
          <p:cNvPr id="885" name="Google Shape;885;p18"/>
          <p:cNvSpPr txBox="1"/>
          <p:nvPr>
            <p:ph idx="1" type="body"/>
          </p:nvPr>
        </p:nvSpPr>
        <p:spPr>
          <a:xfrm>
            <a:off x="511250" y="772300"/>
            <a:ext cx="8191800" cy="29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Objetivo: Comprender el uso responsable del crédito y las estrategias de pago.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Método Bola de Nieve: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1) Ordena tus deudas de menor a mayor monto.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2) Paga la más pequeña primero, luego la siguiente.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3) Te motiva ver progresos rápidos.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Método Avalancha: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1) Ordena tus deudas según la tasa de interés.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2) Paga primero la que tenga el interés más alto.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3) Ahorras más dinero en el largo plazo.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500"/>
              </a:spcAft>
              <a:buSzPts val="1800"/>
              <a:buChar char="▸"/>
            </a:pPr>
            <a:r>
              <a:rPr lang="es-MX" sz="1800"/>
              <a:t>Consejo: Evita usar nuevas líneas de crédito mientras pagas tus deudas.</a:t>
            </a:r>
            <a:endParaRPr/>
          </a:p>
        </p:txBody>
      </p:sp>
      <p:grpSp>
        <p:nvGrpSpPr>
          <p:cNvPr id="886" name="Google Shape;886;p18"/>
          <p:cNvGrpSpPr/>
          <p:nvPr/>
        </p:nvGrpSpPr>
        <p:grpSpPr>
          <a:xfrm>
            <a:off x="7680370" y="3099032"/>
            <a:ext cx="1407494" cy="1561150"/>
            <a:chOff x="2152750" y="190500"/>
            <a:chExt cx="4293756" cy="4762499"/>
          </a:xfrm>
        </p:grpSpPr>
        <p:sp>
          <p:nvSpPr>
            <p:cNvPr id="887" name="Google Shape;887;p18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8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8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8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8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8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18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1" name="Google Shape;961;p18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962" name="Google Shape;962;p18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18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8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8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18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18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8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8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8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1" name="Google Shape;971;p18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972" name="Google Shape;972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7" name="Google Shape;977;p18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5" name="Google Shape;995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9"/>
          <p:cNvSpPr txBox="1"/>
          <p:nvPr>
            <p:ph type="title"/>
          </p:nvPr>
        </p:nvSpPr>
        <p:spPr>
          <a:xfrm>
            <a:off x="457200" y="207025"/>
            <a:ext cx="56409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</a:t>
            </a:r>
            <a:r>
              <a:rPr lang="es-MX" sz="2800"/>
              <a:t> 4: Inversión y </a:t>
            </a:r>
            <a:endParaRPr sz="2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Planificación Financiera</a:t>
            </a:r>
            <a:endParaRPr sz="2800"/>
          </a:p>
        </p:txBody>
      </p:sp>
      <p:sp>
        <p:nvSpPr>
          <p:cNvPr id="1001" name="Google Shape;1001;p19"/>
          <p:cNvSpPr txBox="1"/>
          <p:nvPr>
            <p:ph idx="1" type="body"/>
          </p:nvPr>
        </p:nvSpPr>
        <p:spPr>
          <a:xfrm>
            <a:off x="457200" y="942210"/>
            <a:ext cx="8339400" cy="3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Objetivo: Conocer los fundamentos para comenzar a invertir y proteger tu patrimonio.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Principios básicos: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Horizonte: Tiempo que puedes mantener la inversión.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Riesgo: Posibilidad de perder parte del capital invertido.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Diversificación: No pongas todo tu dinero en un solo activo.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Instrumentos comunes: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Depósitos a plazo.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Fondos mutuos o ETF.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500"/>
              </a:spcAft>
              <a:buSzPts val="1800"/>
              <a:buChar char="▸"/>
            </a:pPr>
            <a:r>
              <a:rPr lang="es-MX" sz="1800"/>
              <a:t>- Aportes voluntarios a AFP o APV.</a:t>
            </a:r>
            <a:endParaRPr/>
          </a:p>
        </p:txBody>
      </p:sp>
      <p:sp>
        <p:nvSpPr>
          <p:cNvPr id="1002" name="Google Shape;1002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Plan Financiero Personal</a:t>
            </a:r>
            <a:endParaRPr sz="2800"/>
          </a:p>
        </p:txBody>
      </p:sp>
      <p:sp>
        <p:nvSpPr>
          <p:cNvPr id="1008" name="Google Shape;1008;p2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Un plan financiero debe incluir: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1) Evaluación de tu situación actual (ingresos, deudas, ahorro).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2) Definición de metas a corto, mediano y largo plazo.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3) Estrategia de ahorro e inversión.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500"/>
              </a:spcAft>
              <a:buSzPts val="1800"/>
              <a:buChar char="▸"/>
            </a:pPr>
            <a:r>
              <a:rPr lang="es-MX" sz="1800"/>
              <a:t>4) Revisión y ajustes periódicos.</a:t>
            </a:r>
            <a:endParaRPr/>
          </a:p>
        </p:txBody>
      </p:sp>
      <p:sp>
        <p:nvSpPr>
          <p:cNvPr id="1009" name="Google Shape;1009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Conclusión</a:t>
            </a:r>
            <a:endParaRPr/>
          </a:p>
        </p:txBody>
      </p:sp>
      <p:sp>
        <p:nvSpPr>
          <p:cNvPr id="1015" name="Google Shape;1015;p11"/>
          <p:cNvSpPr txBox="1"/>
          <p:nvPr>
            <p:ph idx="1" type="body"/>
          </p:nvPr>
        </p:nvSpPr>
        <p:spPr>
          <a:xfrm>
            <a:off x="457200" y="1377925"/>
            <a:ext cx="82851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Este curso te entrega una base sólida y práctica para tomar mejores decisiones con tu dinero.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Diagnosticamos tu situación y estructurar un presupuesto accionable.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Definiste metas y un plan de ahorro con foco en el fondo de emergencia.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Comprendiste el costo de las deudas y elegiste una estrategia de pago.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Trazaste tus primeros pasos de inversión y una hoja de ruta simple.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Próximo paso: concreta 3 acciones en 30 días (responsable, monto/plazo y métrica de avance) y revisa semanalmente tu progreso.</a:t>
            </a:r>
            <a:endParaRPr/>
          </a:p>
        </p:txBody>
      </p:sp>
      <p:sp>
        <p:nvSpPr>
          <p:cNvPr id="1016" name="Google Shape;1016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