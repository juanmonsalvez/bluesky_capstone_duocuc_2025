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Raleway Thin"/>
      <p:regular r:id="rId23"/>
      <p:bold r:id="rId24"/>
      <p:italic r:id="rId25"/>
      <p:boldItalic r:id="rId26"/>
    </p:embeddedFont>
    <p:embeddedFont>
      <p:font typeface="Barlow Light"/>
      <p:regular r:id="rId27"/>
      <p:bold r:id="rId28"/>
      <p:italic r:id="rId29"/>
      <p:boldItalic r:id="rId30"/>
    </p:embeddedFont>
    <p:embeddedFont>
      <p:font typeface="Barlow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VcHNl9UOsQGB+3TEYY3TLOK50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RalewayThin-bold.fntdata"/><Relationship Id="rId23" Type="http://schemas.openxmlformats.org/officeDocument/2006/relationships/font" Target="fonts/RalewayThin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Thin-boldItalic.fntdata"/><Relationship Id="rId25" Type="http://schemas.openxmlformats.org/officeDocument/2006/relationships/font" Target="fonts/RalewayThin-italic.fntdata"/><Relationship Id="rId28" Type="http://schemas.openxmlformats.org/officeDocument/2006/relationships/font" Target="fonts/BarlowLight-bold.fntdata"/><Relationship Id="rId27" Type="http://schemas.openxmlformats.org/officeDocument/2006/relationships/font" Target="fonts/Barlow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-regular.fntdata"/><Relationship Id="rId30" Type="http://schemas.openxmlformats.org/officeDocument/2006/relationships/font" Target="fonts/BarlowLight-boldItalic.fntdata"/><Relationship Id="rId11" Type="http://schemas.openxmlformats.org/officeDocument/2006/relationships/slide" Target="slides/slide7.xml"/><Relationship Id="rId33" Type="http://schemas.openxmlformats.org/officeDocument/2006/relationships/font" Target="fonts/Barlow-italic.fntdata"/><Relationship Id="rId10" Type="http://schemas.openxmlformats.org/officeDocument/2006/relationships/slide" Target="slides/slide6.xml"/><Relationship Id="rId32" Type="http://schemas.openxmlformats.org/officeDocument/2006/relationships/font" Target="fonts/Barlow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Barlow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aleway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10d4bad43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910d4bad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10d4bad43_0_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910d4bad4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10d4bad43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910d4bad4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10d4bad43_0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910d4bad4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10d4bad43_0_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910d4bad4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10d4bad43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910d4bad4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10d4bad43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910d4bad4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10d4bad43_0_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910d4bad4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10d4bad43_0_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910d4bad4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10d4bad43_0_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910d4bad4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10d4bad43_0_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910d4bad4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10d4bad43_0_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910d4bad4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2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/>
          <p:nvPr/>
        </p:nvSpPr>
        <p:spPr>
          <a:xfrm rot="5400000">
            <a:off x="-100350" y="452010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13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4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14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846445" y="1401680"/>
            <a:ext cx="3117472" cy="3159805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8235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8235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3333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3333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8235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8235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8235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8235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8235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8235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3333"/>
                  </a:srgbClr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-37050" y="399328"/>
            <a:ext cx="70014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000">
                <a:latin typeface="Raleway"/>
                <a:ea typeface="Raleway"/>
                <a:cs typeface="Raleway"/>
                <a:sym typeface="Raleway"/>
              </a:rPr>
              <a:t>Análisis de Datos </a:t>
            </a:r>
            <a:endParaRPr b="1" sz="4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000">
                <a:latin typeface="Raleway"/>
                <a:ea typeface="Raleway"/>
                <a:cs typeface="Raleway"/>
                <a:sym typeface="Raleway"/>
              </a:rPr>
              <a:t>Nivel Intermedio</a:t>
            </a:r>
            <a:endParaRPr b="1" sz="4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sz="4000"/>
          </a:p>
        </p:txBody>
      </p:sp>
      <p:sp>
        <p:nvSpPr>
          <p:cNvPr id="306" name="Google Shape;306;p1"/>
          <p:cNvSpPr/>
          <p:nvPr/>
        </p:nvSpPr>
        <p:spPr>
          <a:xfrm>
            <a:off x="518627" y="3063754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10d4bad43_0_0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Presentación del Curso</a:t>
            </a:r>
            <a:endParaRPr/>
          </a:p>
        </p:txBody>
      </p:sp>
      <p:sp>
        <p:nvSpPr>
          <p:cNvPr id="312" name="Google Shape;312;g3910d4bad43_0_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g3910d4bad43_0_0"/>
          <p:cNvSpPr/>
          <p:nvPr/>
        </p:nvSpPr>
        <p:spPr>
          <a:xfrm>
            <a:off x="318750" y="2284225"/>
            <a:ext cx="2783100" cy="23526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5400012" scaled="0"/>
          </a:gradFill>
          <a:ln cap="flat" cmpd="sng" w="9525">
            <a:solidFill>
              <a:srgbClr val="F5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Título del Programa</a:t>
            </a:r>
            <a:endParaRPr b="1" i="0" sz="1700" u="none" cap="none" strike="noStrike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434343"/>
                </a:solidFill>
                <a:latin typeface="Barlow Light"/>
                <a:ea typeface="Barlow Light"/>
                <a:cs typeface="Barlow Light"/>
                <a:sym typeface="Barlow Light"/>
              </a:rPr>
              <a:t>Análisis de Datos Intermedio</a:t>
            </a:r>
            <a:endParaRPr b="0" i="0" sz="1700" u="none" cap="none" strike="noStrike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14" name="Google Shape;314;g3910d4bad43_0_0"/>
          <p:cNvSpPr/>
          <p:nvPr/>
        </p:nvSpPr>
        <p:spPr>
          <a:xfrm>
            <a:off x="3180450" y="2284225"/>
            <a:ext cx="2783100" cy="23526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5400012" scaled="0"/>
          </a:gradFill>
          <a:ln cap="flat" cmpd="sng" w="9525">
            <a:solidFill>
              <a:srgbClr val="F5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Nivel</a:t>
            </a:r>
            <a:endParaRPr b="1" i="0" sz="1700" u="none" cap="none" strike="noStrike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434343"/>
                </a:solidFill>
                <a:latin typeface="Barlow Light"/>
                <a:ea typeface="Barlow Light"/>
                <a:cs typeface="Barlow Light"/>
                <a:sym typeface="Barlow Light"/>
              </a:rPr>
              <a:t>Intermedio</a:t>
            </a:r>
            <a:endParaRPr b="0" i="0" sz="1700" u="none" cap="none" strike="noStrike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15" name="Google Shape;315;g3910d4bad43_0_0"/>
          <p:cNvSpPr/>
          <p:nvPr/>
        </p:nvSpPr>
        <p:spPr>
          <a:xfrm>
            <a:off x="6042150" y="2284225"/>
            <a:ext cx="2783100" cy="23526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5400012" scaled="0"/>
          </a:gradFill>
          <a:ln cap="flat" cmpd="sng" w="9525">
            <a:solidFill>
              <a:srgbClr val="F5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Objetivo General</a:t>
            </a:r>
            <a:endParaRPr b="1" i="0" sz="1700" u="none" cap="none" strike="noStrike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434343"/>
                </a:solidFill>
                <a:latin typeface="Barlow Light"/>
                <a:ea typeface="Barlow Light"/>
                <a:cs typeface="Barlow Light"/>
                <a:sym typeface="Barlow Light"/>
              </a:rPr>
              <a:t>Dominar técnicas analíticas intermedias y herramientas profesionales para interpretar, procesar y visualizar datos de manera confiable.</a:t>
            </a:r>
            <a:endParaRPr b="0" i="0" sz="1700" u="none" cap="none" strike="noStrike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10d4bad43_0_17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Objetivos del Curso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1800"/>
              <a:t>Al finalizar este curso, habrás desarrollado las competencias necesarias para:</a:t>
            </a:r>
            <a:endParaRPr sz="1800"/>
          </a:p>
        </p:txBody>
      </p:sp>
      <p:sp>
        <p:nvSpPr>
          <p:cNvPr id="321" name="Google Shape;321;g3910d4bad43_0_17"/>
          <p:cNvSpPr txBox="1"/>
          <p:nvPr>
            <p:ph idx="1" type="body"/>
          </p:nvPr>
        </p:nvSpPr>
        <p:spPr>
          <a:xfrm>
            <a:off x="327750" y="1995850"/>
            <a:ext cx="42003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"/>
              <a:buChar char="▸"/>
            </a:pPr>
            <a:r>
              <a:rPr lang="en-US" sz="18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Aplicar técnicas de limpieza y transformación de datos.</a:t>
            </a:r>
            <a:endParaRPr sz="18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"/>
              <a:buChar char="▸"/>
            </a:pPr>
            <a:r>
              <a:rPr lang="en-US" sz="18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Utilizar funciones intermedias de Excel/Sheets para análisis.</a:t>
            </a:r>
            <a:endParaRPr sz="18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"/>
              <a:buChar char="▸"/>
            </a:pPr>
            <a:r>
              <a:rPr lang="en-US" sz="18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Construir dashboards profesionales.</a:t>
            </a:r>
            <a:endParaRPr sz="18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"/>
              <a:buChar char="▸"/>
            </a:pPr>
            <a:r>
              <a:rPr lang="en-US" sz="18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Analizar tendencias, variaciones y correlaciones.</a:t>
            </a:r>
            <a:endParaRPr sz="18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322;g3910d4bad43_0_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g3910d4bad43_0_17"/>
          <p:cNvSpPr txBox="1"/>
          <p:nvPr>
            <p:ph idx="1" type="body"/>
          </p:nvPr>
        </p:nvSpPr>
        <p:spPr>
          <a:xfrm>
            <a:off x="4712950" y="1995850"/>
            <a:ext cx="42003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"/>
              <a:buChar char="▸"/>
            </a:pPr>
            <a:r>
              <a:rPr lang="en-US" sz="18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Utilizar tablas dinámicas avanzadas.</a:t>
            </a:r>
            <a:endParaRPr sz="18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"/>
              <a:buChar char="▸"/>
            </a:pPr>
            <a:r>
              <a:rPr lang="en-US" sz="18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Interpretar KPIs corporativos.</a:t>
            </a:r>
            <a:endParaRPr sz="18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"/>
              <a:buChar char="▸"/>
            </a:pPr>
            <a:r>
              <a:rPr lang="en-US" sz="18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Preparar datos para herramientas analíticas profesionales (Power BI, Python, SQL).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10d4bad43_0_27"/>
          <p:cNvSpPr txBox="1"/>
          <p:nvPr>
            <p:ph type="title"/>
          </p:nvPr>
        </p:nvSpPr>
        <p:spPr>
          <a:xfrm>
            <a:off x="457200" y="389598"/>
            <a:ext cx="7427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900"/>
              <a:t>Limpieza y Preparación de Datos</a:t>
            </a:r>
            <a:endParaRPr sz="3900"/>
          </a:p>
        </p:txBody>
      </p:sp>
      <p:sp>
        <p:nvSpPr>
          <p:cNvPr id="329" name="Google Shape;329;g3910d4bad43_0_27"/>
          <p:cNvSpPr txBox="1"/>
          <p:nvPr>
            <p:ph idx="1" type="body"/>
          </p:nvPr>
        </p:nvSpPr>
        <p:spPr>
          <a:xfrm>
            <a:off x="457200" y="1322675"/>
            <a:ext cx="4033800" cy="3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qué es importante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70% del análisis se basa en datos limpios. Un dato mal formateado = conclusiones erróneas.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Técnicas intermedias: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Eliminar duplicados</a:t>
            </a:r>
            <a:b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Datos → Quitar duplicados.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Tratar valores faltantes</a:t>
            </a:r>
            <a:b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Rellenar con promedio/mediana.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Eliminar filas incompletas (si causa menos impacto).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Usar “Buscar y reemplazar” para limpiar texto.</a:t>
            </a:r>
            <a:endParaRPr b="1" sz="2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0" name="Google Shape;330;g3910d4bad43_0_2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g3910d4bad43_0_27"/>
          <p:cNvSpPr txBox="1"/>
          <p:nvPr/>
        </p:nvSpPr>
        <p:spPr>
          <a:xfrm>
            <a:off x="4768525" y="2219500"/>
            <a:ext cx="3947700" cy="2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US" sz="1100"/>
              <a:t>Formato estándar</a:t>
            </a:r>
            <a:br>
              <a:rPr b="1" lang="en-US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/>
              <a:t>Convertir texto a número.</a:t>
            </a:r>
            <a:br>
              <a:rPr lang="en-US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/>
              <a:t>Normalizar fechas.</a:t>
            </a:r>
            <a:br>
              <a:rPr lang="en-US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/>
              <a:t>Usar TRIM/ESPACIOS para limpiar caracteres ocultos.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US" sz="1100"/>
              <a:t>Normalización de datos</a:t>
            </a:r>
            <a:br>
              <a:rPr b="1" lang="en-US" sz="1100"/>
            </a:br>
            <a:r>
              <a:rPr lang="en-US" sz="1100"/>
              <a:t> Cuando los valores tienen rangos diferentes (por ejemplo, edades vs. ingresos).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10d4bad43_0_33"/>
          <p:cNvSpPr txBox="1"/>
          <p:nvPr>
            <p:ph type="title"/>
          </p:nvPr>
        </p:nvSpPr>
        <p:spPr>
          <a:xfrm>
            <a:off x="425250" y="93752"/>
            <a:ext cx="731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600"/>
              <a:t>Funciones Intermedias para Análisis</a:t>
            </a:r>
            <a:endParaRPr sz="3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200"/>
              <a:t>Funciones clave en Excel / Sheets</a:t>
            </a:r>
            <a:endParaRPr sz="2200"/>
          </a:p>
        </p:txBody>
      </p:sp>
      <p:sp>
        <p:nvSpPr>
          <p:cNvPr id="337" name="Google Shape;337;g3910d4bad43_0_33"/>
          <p:cNvSpPr txBox="1"/>
          <p:nvPr>
            <p:ph idx="1" type="body"/>
          </p:nvPr>
        </p:nvSpPr>
        <p:spPr>
          <a:xfrm>
            <a:off x="3303900" y="1376284"/>
            <a:ext cx="25362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Funciones lógicas:</a:t>
            </a:r>
            <a:endParaRPr b="1" sz="15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▸"/>
            </a:pPr>
            <a:r>
              <a:rPr lang="en-US" sz="1200">
                <a:solidFill>
                  <a:srgbClr val="434343"/>
                </a:solidFill>
              </a:rPr>
              <a:t>SI() anidado</a:t>
            </a: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▸"/>
            </a:pPr>
            <a:r>
              <a:rPr lang="en-US" sz="1200">
                <a:solidFill>
                  <a:srgbClr val="434343"/>
                </a:solidFill>
              </a:rPr>
              <a:t>Y(), O(), NO()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338" name="Google Shape;338;g3910d4bad43_0_3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g3910d4bad43_0_33"/>
          <p:cNvSpPr txBox="1"/>
          <p:nvPr>
            <p:ph idx="1" type="body"/>
          </p:nvPr>
        </p:nvSpPr>
        <p:spPr>
          <a:xfrm>
            <a:off x="457200" y="1376284"/>
            <a:ext cx="25362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Funciones estadísticas:</a:t>
            </a:r>
            <a:endParaRPr b="1" sz="15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PROMEDIO</a:t>
            </a:r>
            <a:endParaRPr sz="1000">
              <a:solidFill>
                <a:srgbClr val="434343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MEDIANA</a:t>
            </a:r>
            <a:endParaRPr sz="1000">
              <a:solidFill>
                <a:srgbClr val="434343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MODA</a:t>
            </a:r>
            <a:endParaRPr sz="1000">
              <a:solidFill>
                <a:srgbClr val="434343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VAR, STDEV (varianza y desviación estándar)</a:t>
            </a:r>
            <a:endParaRPr sz="1000">
              <a:solidFill>
                <a:srgbClr val="434343"/>
              </a:solidFill>
            </a:endParaRPr>
          </a:p>
        </p:txBody>
      </p:sp>
      <p:sp>
        <p:nvSpPr>
          <p:cNvPr id="340" name="Google Shape;340;g3910d4bad43_0_33"/>
          <p:cNvSpPr txBox="1"/>
          <p:nvPr>
            <p:ph idx="1" type="body"/>
          </p:nvPr>
        </p:nvSpPr>
        <p:spPr>
          <a:xfrm>
            <a:off x="6150600" y="1376284"/>
            <a:ext cx="25362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Funciones de búsqueda:</a:t>
            </a:r>
            <a:endParaRPr b="1" sz="15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100"/>
              <a:buChar char="▸"/>
            </a:pPr>
            <a:r>
              <a:rPr lang="en-US" sz="1100">
                <a:solidFill>
                  <a:srgbClr val="434343"/>
                </a:solidFill>
              </a:rPr>
              <a:t>BUSCARV / VLOOKUP</a:t>
            </a:r>
            <a:endParaRPr sz="1100">
              <a:solidFill>
                <a:srgbClr val="434343"/>
              </a:solidFill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▸"/>
            </a:pPr>
            <a:r>
              <a:rPr lang="en-US" sz="1100">
                <a:solidFill>
                  <a:srgbClr val="434343"/>
                </a:solidFill>
              </a:rPr>
              <a:t>BUSCARX / XLOOKUP (versión moderna)</a:t>
            </a:r>
            <a:endParaRPr sz="1100">
              <a:solidFill>
                <a:srgbClr val="434343"/>
              </a:solidFill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▸"/>
            </a:pPr>
            <a:r>
              <a:rPr lang="en-US" sz="1100">
                <a:solidFill>
                  <a:srgbClr val="434343"/>
                </a:solidFill>
              </a:rPr>
              <a:t>ÍNDICE + COINCIDIR</a:t>
            </a:r>
            <a:endParaRPr sz="1100">
              <a:solidFill>
                <a:srgbClr val="434343"/>
              </a:solidFill>
            </a:endParaRPr>
          </a:p>
        </p:txBody>
      </p:sp>
      <p:sp>
        <p:nvSpPr>
          <p:cNvPr id="341" name="Google Shape;341;g3910d4bad43_0_33"/>
          <p:cNvSpPr txBox="1"/>
          <p:nvPr>
            <p:ph idx="1" type="body"/>
          </p:nvPr>
        </p:nvSpPr>
        <p:spPr>
          <a:xfrm>
            <a:off x="3303900" y="2989150"/>
            <a:ext cx="23091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Funciones de texto:</a:t>
            </a:r>
            <a:endParaRPr b="1" sz="15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IZQUIERDA(), DERECHA(), EXTRAE()</a:t>
            </a:r>
            <a:endParaRPr sz="1000">
              <a:solidFill>
                <a:srgbClr val="434343"/>
              </a:solidFill>
            </a:endParaRPr>
          </a:p>
          <a:p>
            <a:pPr indent="-2921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MAYUSC(), MINUSC()</a:t>
            </a:r>
            <a:endParaRPr sz="1000">
              <a:solidFill>
                <a:srgbClr val="434343"/>
              </a:solidFill>
            </a:endParaRPr>
          </a:p>
          <a:p>
            <a:pPr indent="-2921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CONCAT / UNIRCADENAS</a:t>
            </a:r>
            <a:endParaRPr sz="1000">
              <a:solidFill>
                <a:srgbClr val="434343"/>
              </a:solidFill>
            </a:endParaRPr>
          </a:p>
        </p:txBody>
      </p:sp>
      <p:sp>
        <p:nvSpPr>
          <p:cNvPr id="342" name="Google Shape;342;g3910d4bad43_0_33"/>
          <p:cNvSpPr txBox="1"/>
          <p:nvPr>
            <p:ph idx="1" type="body"/>
          </p:nvPr>
        </p:nvSpPr>
        <p:spPr>
          <a:xfrm>
            <a:off x="457200" y="2989150"/>
            <a:ext cx="23898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4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Funciones de fecha y tiempo:</a:t>
            </a:r>
            <a:endParaRPr b="1" sz="14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AÑO(), MES(), DÍA()</a:t>
            </a:r>
            <a:endParaRPr sz="1000">
              <a:solidFill>
                <a:srgbClr val="434343"/>
              </a:solidFill>
            </a:endParaRPr>
          </a:p>
          <a:p>
            <a:pPr indent="-2921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DIF.DIAS()</a:t>
            </a:r>
            <a:endParaRPr sz="1000">
              <a:solidFill>
                <a:srgbClr val="434343"/>
              </a:solidFill>
            </a:endParaRPr>
          </a:p>
        </p:txBody>
      </p:sp>
      <p:sp>
        <p:nvSpPr>
          <p:cNvPr id="343" name="Google Shape;343;g3910d4bad43_0_33"/>
          <p:cNvSpPr txBox="1"/>
          <p:nvPr/>
        </p:nvSpPr>
        <p:spPr>
          <a:xfrm>
            <a:off x="80950" y="1017534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01</a:t>
            </a:r>
            <a:endParaRPr b="1" i="0" sz="2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4" name="Google Shape;344;g3910d4bad43_0_33"/>
          <p:cNvSpPr txBox="1"/>
          <p:nvPr/>
        </p:nvSpPr>
        <p:spPr>
          <a:xfrm>
            <a:off x="2847000" y="1017534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02</a:t>
            </a:r>
            <a:endParaRPr b="1" i="0" sz="2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5" name="Google Shape;345;g3910d4bad43_0_33"/>
          <p:cNvSpPr txBox="1"/>
          <p:nvPr/>
        </p:nvSpPr>
        <p:spPr>
          <a:xfrm>
            <a:off x="5613050" y="1017534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03</a:t>
            </a:r>
            <a:endParaRPr b="1" i="0" sz="2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6" name="Google Shape;346;g3910d4bad43_0_33"/>
          <p:cNvSpPr txBox="1"/>
          <p:nvPr/>
        </p:nvSpPr>
        <p:spPr>
          <a:xfrm>
            <a:off x="0" y="2653720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  <a:endParaRPr b="1" i="0" sz="2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7" name="Google Shape;347;g3910d4bad43_0_33"/>
          <p:cNvSpPr txBox="1"/>
          <p:nvPr/>
        </p:nvSpPr>
        <p:spPr>
          <a:xfrm>
            <a:off x="2847000" y="2653720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05</a:t>
            </a:r>
            <a:endParaRPr b="1" i="0" sz="2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8" name="Google Shape;348;g3910d4bad43_0_33"/>
          <p:cNvSpPr/>
          <p:nvPr/>
        </p:nvSpPr>
        <p:spPr>
          <a:xfrm>
            <a:off x="425250" y="4225825"/>
            <a:ext cx="8293500" cy="831900"/>
          </a:xfrm>
          <a:prstGeom prst="foldedCorner">
            <a:avLst>
              <a:gd fmla="val 16667" name="adj"/>
            </a:avLst>
          </a:prstGeom>
          <a:solidFill>
            <a:srgbClr val="E26161">
              <a:alpha val="403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Buenas Prácticas Profesionales</a:t>
            </a:r>
            <a:endParaRPr b="1" i="0" sz="900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Barlow Light"/>
              <a:buChar char="●"/>
            </a:pPr>
            <a:r>
              <a:rPr b="0" i="0" lang="en-US" sz="900" u="none" cap="none" strike="noStrike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Colocar el logo corporativo solo en el patrón, nunca en cada diapositiva </a:t>
            </a:r>
            <a:endParaRPr b="0" i="0" sz="900" u="none" cap="none" strike="noStrike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individual  </a:t>
            </a:r>
            <a:endParaRPr b="0" i="0" sz="900" u="none" cap="none" strike="noStrike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Barlow Light"/>
              <a:buChar char="●"/>
            </a:pPr>
            <a:r>
              <a:rPr b="0" i="0" lang="en-US" sz="900" u="none" cap="none" strike="noStrike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Fijar una paleta de colores principales y secundarios coherente con la </a:t>
            </a:r>
            <a:endParaRPr b="0" i="0" sz="900" u="none" cap="none" strike="noStrike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marca</a:t>
            </a:r>
            <a:endParaRPr b="0" i="0" sz="900" u="none" cap="none" strike="noStrike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9" name="Google Shape;349;g3910d4bad43_0_33"/>
          <p:cNvSpPr txBox="1"/>
          <p:nvPr/>
        </p:nvSpPr>
        <p:spPr>
          <a:xfrm>
            <a:off x="4497875" y="4383008"/>
            <a:ext cx="405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Barlow Light"/>
              <a:buChar char="●"/>
            </a:pPr>
            <a:r>
              <a:rPr b="0" i="0" lang="en-US" sz="900" u="none" cap="none" strike="noStrike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Mantener coherencia tipográfica en todo el documento utilizando máximo 2-3 fuentes</a:t>
            </a:r>
            <a:endParaRPr b="0" i="0" sz="900" u="none" cap="none" strike="noStrike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50" name="Google Shape;350;g3910d4bad43_0_33"/>
          <p:cNvSpPr txBox="1"/>
          <p:nvPr>
            <p:ph idx="1" type="body"/>
          </p:nvPr>
        </p:nvSpPr>
        <p:spPr>
          <a:xfrm>
            <a:off x="6297000" y="2989163"/>
            <a:ext cx="23091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4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Funciones para datos financieros:</a:t>
            </a:r>
            <a:endParaRPr b="1" sz="14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▸"/>
            </a:pPr>
            <a:r>
              <a:rPr lang="en-US" sz="1000">
                <a:solidFill>
                  <a:srgbClr val="434343"/>
                </a:solidFill>
              </a:rPr>
              <a:t>TASA, NPV, PMT, etc.</a:t>
            </a:r>
            <a:endParaRPr sz="1000">
              <a:solidFill>
                <a:srgbClr val="434343"/>
              </a:solidFill>
            </a:endParaRPr>
          </a:p>
        </p:txBody>
      </p:sp>
      <p:sp>
        <p:nvSpPr>
          <p:cNvPr id="351" name="Google Shape;351;g3910d4bad43_0_33"/>
          <p:cNvSpPr txBox="1"/>
          <p:nvPr/>
        </p:nvSpPr>
        <p:spPr>
          <a:xfrm>
            <a:off x="5849346" y="2653733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</a:t>
            </a:r>
            <a:endParaRPr b="1" i="0" sz="2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10d4bad43_0_50"/>
          <p:cNvSpPr txBox="1"/>
          <p:nvPr>
            <p:ph type="title"/>
          </p:nvPr>
        </p:nvSpPr>
        <p:spPr>
          <a:xfrm>
            <a:off x="457200" y="278650"/>
            <a:ext cx="7362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Transformación de Datos</a:t>
            </a:r>
            <a:endParaRPr/>
          </a:p>
        </p:txBody>
      </p:sp>
      <p:sp>
        <p:nvSpPr>
          <p:cNvPr id="357" name="Google Shape;357;g3910d4bad43_0_50"/>
          <p:cNvSpPr txBox="1"/>
          <p:nvPr>
            <p:ph idx="1" type="body"/>
          </p:nvPr>
        </p:nvSpPr>
        <p:spPr>
          <a:xfrm>
            <a:off x="457200" y="1313425"/>
            <a:ext cx="8191800" cy="3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Técnicas intermedias: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Filtrado avanzado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▹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Crear criterios complejos usando operadores lógicos.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Segmentación por categorías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▹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Segmentación de datos por mes, región, tipo de cliente, etc.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Agrupamientos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▹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Rango de edades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▹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Tramos de ingresos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▹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Grupos de riesgo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Normalización y escalado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Especialmente útil antes de hacer análisis comparativos.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8" name="Google Shape;358;g3910d4bad43_0_5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10d4bad43_0_59"/>
          <p:cNvSpPr txBox="1"/>
          <p:nvPr>
            <p:ph type="title"/>
          </p:nvPr>
        </p:nvSpPr>
        <p:spPr>
          <a:xfrm>
            <a:off x="457200" y="278650"/>
            <a:ext cx="73068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300"/>
              <a:t>Tablas Dinámicas Avanzadas</a:t>
            </a:r>
            <a:endParaRPr sz="4300"/>
          </a:p>
        </p:txBody>
      </p:sp>
      <p:sp>
        <p:nvSpPr>
          <p:cNvPr id="364" name="Google Shape;364;g3910d4bad43_0_59"/>
          <p:cNvSpPr txBox="1"/>
          <p:nvPr>
            <p:ph idx="1" type="body"/>
          </p:nvPr>
        </p:nvSpPr>
        <p:spPr>
          <a:xfrm>
            <a:off x="365100" y="1470600"/>
            <a:ext cx="42069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Qué permiten hacer: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Resumir grandes volúmenes de datos.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Crear reportes dinámicos.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Filtrar, agrupar y segmentar con facilidad.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Funciones intermedias: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Agrupar por meses/años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Campo calculado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Segmentaciones y gráficos dinámicos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Ordenar por valores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AutoNum type="arabicPeriod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Agrupación numérica (edades, rangos)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5" name="Google Shape;365;g3910d4bad43_0_5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g3910d4bad43_0_59"/>
          <p:cNvSpPr txBox="1"/>
          <p:nvPr>
            <p:ph idx="1" type="body"/>
          </p:nvPr>
        </p:nvSpPr>
        <p:spPr>
          <a:xfrm>
            <a:off x="4572000" y="1470600"/>
            <a:ext cx="42069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Pasos para crear una tabla dinámica: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▸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Seleccionar datos → Insertar tabla dinámica.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▸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Arrastrar campos a: filas, columnas, valores, filtros.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▸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Aplicar segmentadores.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▸"/>
            </a:pPr>
            <a:r>
              <a:rPr lang="en-US" sz="1400">
                <a:latin typeface="Barlow"/>
                <a:ea typeface="Barlow"/>
                <a:cs typeface="Barlow"/>
                <a:sym typeface="Barlow"/>
              </a:rPr>
              <a:t>Crear gráfico dinámico.</a:t>
            </a:r>
            <a:endParaRPr sz="14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10d4bad43_0_65"/>
          <p:cNvSpPr txBox="1"/>
          <p:nvPr>
            <p:ph type="title"/>
          </p:nvPr>
        </p:nvSpPr>
        <p:spPr>
          <a:xfrm>
            <a:off x="457200" y="278650"/>
            <a:ext cx="74457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400"/>
              <a:t>Análisis de Tendencias</a:t>
            </a:r>
            <a:endParaRPr sz="4400"/>
          </a:p>
        </p:txBody>
      </p:sp>
      <p:sp>
        <p:nvSpPr>
          <p:cNvPr id="372" name="Google Shape;372;g3910d4bad43_0_65"/>
          <p:cNvSpPr txBox="1"/>
          <p:nvPr>
            <p:ph idx="1" type="body"/>
          </p:nvPr>
        </p:nvSpPr>
        <p:spPr>
          <a:xfrm>
            <a:off x="435513" y="1184050"/>
            <a:ext cx="38397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Barlow"/>
                <a:ea typeface="Barlow"/>
                <a:cs typeface="Barlow"/>
                <a:sym typeface="Barlow"/>
              </a:rPr>
              <a:t>Qué es una tendencia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-US" sz="1700">
                <a:latin typeface="Barlow"/>
                <a:ea typeface="Barlow"/>
                <a:cs typeface="Barlow"/>
                <a:sym typeface="Barlow"/>
              </a:rPr>
              <a:t>Patrones o direcciones que siguen los datos a lo largo del tiempo.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Barlow"/>
                <a:ea typeface="Barlow"/>
                <a:cs typeface="Barlow"/>
                <a:sym typeface="Barlow"/>
              </a:rPr>
              <a:t>Técnicas intermedias: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-US" sz="1700">
                <a:latin typeface="Barlow"/>
                <a:ea typeface="Barlow"/>
                <a:cs typeface="Barlow"/>
                <a:sym typeface="Barlow"/>
              </a:rPr>
              <a:t>Tendencia lineal.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-US" sz="1700">
                <a:latin typeface="Barlow"/>
                <a:ea typeface="Barlow"/>
                <a:cs typeface="Barlow"/>
                <a:sym typeface="Barlow"/>
              </a:rPr>
              <a:t>Media móvil.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-US" sz="1700">
                <a:latin typeface="Barlow"/>
                <a:ea typeface="Barlow"/>
                <a:cs typeface="Barlow"/>
                <a:sym typeface="Barlow"/>
              </a:rPr>
              <a:t>Suavizado exponencial.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-US" sz="1700">
                <a:latin typeface="Barlow"/>
                <a:ea typeface="Barlow"/>
                <a:cs typeface="Barlow"/>
                <a:sym typeface="Barlow"/>
              </a:rPr>
              <a:t>Detección visual con gráficos de líneas.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3" name="Google Shape;373;g3910d4bad43_0_6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g3910d4bad43_0_65"/>
          <p:cNvSpPr txBox="1"/>
          <p:nvPr>
            <p:ph idx="1" type="body"/>
          </p:nvPr>
        </p:nvSpPr>
        <p:spPr>
          <a:xfrm>
            <a:off x="4646788" y="1184050"/>
            <a:ext cx="40617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Barlow"/>
                <a:ea typeface="Barlow"/>
                <a:cs typeface="Barlow"/>
                <a:sym typeface="Barlow"/>
              </a:rPr>
              <a:t>Interpretación: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-US" sz="1700">
                <a:latin typeface="Barlow"/>
                <a:ea typeface="Barlow"/>
                <a:cs typeface="Barlow"/>
                <a:sym typeface="Barlow"/>
              </a:rPr>
              <a:t>¿Sube? → Crecimiento.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-US" sz="1700">
                <a:latin typeface="Barlow"/>
                <a:ea typeface="Barlow"/>
                <a:cs typeface="Barlow"/>
                <a:sym typeface="Barlow"/>
              </a:rPr>
              <a:t>¿Baja? → Alerta o ciclo natural.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-US" sz="1700">
                <a:latin typeface="Barlow"/>
                <a:ea typeface="Barlow"/>
                <a:cs typeface="Barlow"/>
                <a:sym typeface="Barlow"/>
              </a:rPr>
              <a:t>¿Cambia de manera abrupta? → Evento puntual.</a:t>
            </a: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10d4bad43_0_71"/>
          <p:cNvSpPr txBox="1"/>
          <p:nvPr>
            <p:ph type="title"/>
          </p:nvPr>
        </p:nvSpPr>
        <p:spPr>
          <a:xfrm>
            <a:off x="457200" y="278650"/>
            <a:ext cx="73068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Correlaciones y Relación entre Variables</a:t>
            </a:r>
            <a:endParaRPr/>
          </a:p>
        </p:txBody>
      </p:sp>
      <p:sp>
        <p:nvSpPr>
          <p:cNvPr id="380" name="Google Shape;380;g3910d4bad43_0_71"/>
          <p:cNvSpPr txBox="1"/>
          <p:nvPr>
            <p:ph idx="1" type="body"/>
          </p:nvPr>
        </p:nvSpPr>
        <p:spPr>
          <a:xfrm>
            <a:off x="567100" y="1718375"/>
            <a:ext cx="37752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Qué es correlación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Indica cuánta relación existe entre dos variables (no implica causalidad).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Tipos: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Positiva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Negativa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Nula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381;g3910d4bad43_0_7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g3910d4bad43_0_71"/>
          <p:cNvSpPr txBox="1"/>
          <p:nvPr>
            <p:ph idx="1" type="body"/>
          </p:nvPr>
        </p:nvSpPr>
        <p:spPr>
          <a:xfrm>
            <a:off x="4801688" y="1718375"/>
            <a:ext cx="37752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Cómo analizarla (intermedio):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Gráficos de dispersión.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Función CORREL.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Líneas de tendencia.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Análisis bivariado básico.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Ejemplos: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Ventas vs. inversión en publicidad.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Rotación de personal vs. carga laboral.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10d4bad43_0_77"/>
          <p:cNvSpPr txBox="1"/>
          <p:nvPr>
            <p:ph type="title"/>
          </p:nvPr>
        </p:nvSpPr>
        <p:spPr>
          <a:xfrm>
            <a:off x="476075" y="121475"/>
            <a:ext cx="7112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Visualización Intermedia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00"/>
              <a:t>Gráficos recomendados</a:t>
            </a:r>
            <a:r>
              <a:rPr lang="en-US" sz="3300"/>
              <a:t>:</a:t>
            </a:r>
            <a:endParaRPr sz="3300"/>
          </a:p>
        </p:txBody>
      </p:sp>
      <p:sp>
        <p:nvSpPr>
          <p:cNvPr id="388" name="Google Shape;388;g3910d4bad43_0_77"/>
          <p:cNvSpPr txBox="1"/>
          <p:nvPr>
            <p:ph idx="1" type="body"/>
          </p:nvPr>
        </p:nvSpPr>
        <p:spPr>
          <a:xfrm>
            <a:off x="476088" y="1637150"/>
            <a:ext cx="39786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Gráfico de líneas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Para tendencias de tiempo.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Gráfico de barras agrupadas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Para com</a:t>
            </a: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p</a:t>
            </a: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araciones directas entre categorías.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Gráfico de distribución (histograma)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Para ver cómo se distribuyen los valores.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9" name="Google Shape;389;g3910d4bad43_0_7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g3910d4bad43_0_77"/>
          <p:cNvSpPr txBox="1"/>
          <p:nvPr>
            <p:ph idx="1" type="body"/>
          </p:nvPr>
        </p:nvSpPr>
        <p:spPr>
          <a:xfrm>
            <a:off x="4689313" y="1637150"/>
            <a:ext cx="39786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Mapas de calor (heatmaps)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Para identificar patrones rápidamente.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Dashboard básico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lang="en-US" sz="1800">
                <a:latin typeface="Barlow"/>
                <a:ea typeface="Barlow"/>
                <a:cs typeface="Barlow"/>
                <a:sym typeface="Barlow"/>
              </a:rPr>
              <a:t>Varias visualizaciones juntas en una sola hoja.</a:t>
            </a:r>
            <a:endParaRPr sz="18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10d4bad43_0_83"/>
          <p:cNvSpPr txBox="1"/>
          <p:nvPr>
            <p:ph type="title"/>
          </p:nvPr>
        </p:nvSpPr>
        <p:spPr>
          <a:xfrm>
            <a:off x="457200" y="278650"/>
            <a:ext cx="72237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KPIs Corporativos</a:t>
            </a:r>
            <a:endParaRPr/>
          </a:p>
        </p:txBody>
      </p:sp>
      <p:sp>
        <p:nvSpPr>
          <p:cNvPr id="396" name="Google Shape;396;g3910d4bad43_0_83"/>
          <p:cNvSpPr txBox="1"/>
          <p:nvPr>
            <p:ph idx="1" type="body"/>
          </p:nvPr>
        </p:nvSpPr>
        <p:spPr>
          <a:xfrm>
            <a:off x="457200" y="1479850"/>
            <a:ext cx="3654900" cy="3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Barlow"/>
                <a:ea typeface="Barlow"/>
                <a:cs typeface="Barlow"/>
                <a:sym typeface="Barlow"/>
              </a:rPr>
              <a:t>Qué es un KPI</a:t>
            </a:r>
            <a:endParaRPr b="1" sz="15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Barlow"/>
                <a:ea typeface="Barlow"/>
                <a:cs typeface="Barlow"/>
                <a:sym typeface="Barlow"/>
              </a:rPr>
              <a:t>Indicador clave de desempeño.</a:t>
            </a:r>
            <a:endParaRPr sz="15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Barlow"/>
                <a:ea typeface="Barlow"/>
                <a:cs typeface="Barlow"/>
                <a:sym typeface="Barlow"/>
              </a:rPr>
              <a:t>Categorías:</a:t>
            </a:r>
            <a:endParaRPr b="1" sz="15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lang="en-US" sz="1500">
                <a:latin typeface="Barlow"/>
                <a:ea typeface="Barlow"/>
                <a:cs typeface="Barlow"/>
                <a:sym typeface="Barlow"/>
              </a:rPr>
              <a:t>Operacionales: productividad, tiempos, eficiencia.</a:t>
            </a:r>
            <a:endParaRPr sz="15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lang="en-US" sz="1500">
                <a:latin typeface="Barlow"/>
                <a:ea typeface="Barlow"/>
                <a:cs typeface="Barlow"/>
                <a:sym typeface="Barlow"/>
              </a:rPr>
              <a:t>Financieros: ingresos, costos, ROI.</a:t>
            </a:r>
            <a:endParaRPr sz="15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lang="en-US" sz="1500">
                <a:latin typeface="Barlow"/>
                <a:ea typeface="Barlow"/>
                <a:cs typeface="Barlow"/>
                <a:sym typeface="Barlow"/>
              </a:rPr>
              <a:t>RRHH: rotación, ausentismo, satisfacción.</a:t>
            </a:r>
            <a:endParaRPr sz="15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lang="en-US" sz="1500">
                <a:latin typeface="Barlow"/>
                <a:ea typeface="Barlow"/>
                <a:cs typeface="Barlow"/>
                <a:sym typeface="Barlow"/>
              </a:rPr>
              <a:t>Comerciales: ventas, conversión, retención.</a:t>
            </a:r>
            <a:endParaRPr sz="15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7" name="Google Shape;397;g3910d4bad43_0_8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g3910d4bad43_0_83"/>
          <p:cNvSpPr txBox="1"/>
          <p:nvPr>
            <p:ph idx="1" type="body"/>
          </p:nvPr>
        </p:nvSpPr>
        <p:spPr>
          <a:xfrm>
            <a:off x="4439400" y="1479850"/>
            <a:ext cx="3654900" cy="3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Barlow"/>
                <a:ea typeface="Barlow"/>
                <a:cs typeface="Barlow"/>
                <a:sym typeface="Barlow"/>
              </a:rPr>
              <a:t>Buenas prácticas:</a:t>
            </a:r>
            <a:endParaRPr b="1" sz="15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lang="en-US" sz="1500">
                <a:latin typeface="Barlow"/>
                <a:ea typeface="Barlow"/>
                <a:cs typeface="Barlow"/>
                <a:sym typeface="Barlow"/>
              </a:rPr>
              <a:t>Definir KPIs con propósito claro.</a:t>
            </a:r>
            <a:endParaRPr sz="15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lang="en-US" sz="1500">
                <a:latin typeface="Barlow"/>
                <a:ea typeface="Barlow"/>
                <a:cs typeface="Barlow"/>
                <a:sym typeface="Barlow"/>
              </a:rPr>
              <a:t>Mostrar tendencias, no solo valores.</a:t>
            </a:r>
            <a:endParaRPr sz="15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lang="en-US" sz="1500">
                <a:latin typeface="Barlow"/>
                <a:ea typeface="Barlow"/>
                <a:cs typeface="Barlow"/>
                <a:sym typeface="Barlow"/>
              </a:rPr>
              <a:t>Usar semáforos visuales.</a:t>
            </a:r>
            <a:endParaRPr sz="15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10d4bad43_0_89"/>
          <p:cNvSpPr txBox="1"/>
          <p:nvPr>
            <p:ph type="title"/>
          </p:nvPr>
        </p:nvSpPr>
        <p:spPr>
          <a:xfrm>
            <a:off x="457200" y="371102"/>
            <a:ext cx="73533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700"/>
              <a:t>Introducción al Análisis Profesional</a:t>
            </a:r>
            <a:endParaRPr sz="3100"/>
          </a:p>
        </p:txBody>
      </p:sp>
      <p:sp>
        <p:nvSpPr>
          <p:cNvPr id="404" name="Google Shape;404;g3910d4bad43_0_89"/>
          <p:cNvSpPr txBox="1"/>
          <p:nvPr>
            <p:ph idx="1" type="body"/>
          </p:nvPr>
        </p:nvSpPr>
        <p:spPr>
          <a:xfrm>
            <a:off x="457200" y="1361350"/>
            <a:ext cx="3960000" cy="3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Power BI / Excel PowerQuery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Combinar y transformar datos.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Automatizar limpieza.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Crear dashboards interactivos.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SQL básico (consulta de datos):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SELECT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WHERE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GROUP BY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HAVING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LIMIT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5" name="Google Shape;405;g3910d4bad43_0_8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g3910d4bad43_0_89"/>
          <p:cNvSpPr txBox="1"/>
          <p:nvPr>
            <p:ph idx="1" type="body"/>
          </p:nvPr>
        </p:nvSpPr>
        <p:spPr>
          <a:xfrm>
            <a:off x="4689025" y="1361350"/>
            <a:ext cx="3960000" cy="3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Python para análisis (nivel introductorio):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Pandas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Matplotlib / Seaborn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"/>
              <a:buChar char="▸"/>
            </a:pPr>
            <a:r>
              <a:rPr lang="en-US" sz="1600">
                <a:latin typeface="Barlow"/>
                <a:ea typeface="Barlow"/>
                <a:cs typeface="Barlow"/>
                <a:sym typeface="Barlow"/>
              </a:rPr>
              <a:t>Limpieza de datos básica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10d4bad43_0_95"/>
          <p:cNvSpPr txBox="1"/>
          <p:nvPr>
            <p:ph type="title"/>
          </p:nvPr>
        </p:nvSpPr>
        <p:spPr>
          <a:xfrm>
            <a:off x="457200" y="389600"/>
            <a:ext cx="717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500"/>
              <a:t>Preparación de Datos para Reportes</a:t>
            </a:r>
            <a:endParaRPr sz="3500"/>
          </a:p>
        </p:txBody>
      </p:sp>
      <p:sp>
        <p:nvSpPr>
          <p:cNvPr id="412" name="Google Shape;412;g3910d4bad43_0_95"/>
          <p:cNvSpPr txBox="1"/>
          <p:nvPr>
            <p:ph idx="1" type="body"/>
          </p:nvPr>
        </p:nvSpPr>
        <p:spPr>
          <a:xfrm>
            <a:off x="623525" y="1592475"/>
            <a:ext cx="69372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100">
                <a:latin typeface="Barlow"/>
                <a:ea typeface="Barlow"/>
                <a:cs typeface="Barlow"/>
                <a:sym typeface="Barlow"/>
              </a:rPr>
              <a:t>Buenas prácticas:</a:t>
            </a:r>
            <a:endParaRPr b="1"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Barlow"/>
              <a:buChar char="▸"/>
            </a:pPr>
            <a:r>
              <a:rPr lang="en-US" sz="2100">
                <a:latin typeface="Barlow"/>
                <a:ea typeface="Barlow"/>
                <a:cs typeface="Barlow"/>
                <a:sym typeface="Barlow"/>
              </a:rPr>
              <a:t>Mantener una sola “fuente de verdad”.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▸"/>
            </a:pPr>
            <a:r>
              <a:rPr lang="en-US" sz="2100">
                <a:latin typeface="Barlow"/>
                <a:ea typeface="Barlow"/>
                <a:cs typeface="Barlow"/>
                <a:sym typeface="Barlow"/>
              </a:rPr>
              <a:t>Documentar campos, unidades y formatos.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▸"/>
            </a:pPr>
            <a:r>
              <a:rPr lang="en-US" sz="2100">
                <a:latin typeface="Barlow"/>
                <a:ea typeface="Barlow"/>
                <a:cs typeface="Barlow"/>
                <a:sym typeface="Barlow"/>
              </a:rPr>
              <a:t>Archivar reportes históricos para comparación.</a:t>
            </a:r>
            <a:endParaRPr sz="2100"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Char char="▸"/>
            </a:pPr>
            <a:r>
              <a:rPr lang="en-US" sz="2100">
                <a:latin typeface="Barlow"/>
                <a:ea typeface="Barlow"/>
                <a:cs typeface="Barlow"/>
                <a:sym typeface="Barlow"/>
              </a:rPr>
              <a:t>Establecer estándares corporativos de reportes.</a:t>
            </a:r>
            <a:endParaRPr sz="2100"/>
          </a:p>
        </p:txBody>
      </p:sp>
      <p:sp>
        <p:nvSpPr>
          <p:cNvPr id="413" name="Google Shape;413;g3910d4bad43_0_9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>
                <a:latin typeface="Raleway"/>
                <a:ea typeface="Raleway"/>
                <a:cs typeface="Raleway"/>
                <a:sym typeface="Raleway"/>
              </a:rPr>
              <a:t>Conclusión</a:t>
            </a:r>
            <a:endParaRPr sz="2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i="1" lang="en-US" sz="2000">
                <a:latin typeface="Raleway"/>
                <a:ea typeface="Raleway"/>
                <a:cs typeface="Raleway"/>
                <a:sym typeface="Raleway"/>
              </a:rPr>
              <a:t>Cierre del Curso </a:t>
            </a:r>
            <a:r>
              <a:rPr i="1" lang="en-US" sz="2000">
                <a:latin typeface="Raleway"/>
                <a:ea typeface="Raleway"/>
                <a:cs typeface="Raleway"/>
                <a:sym typeface="Raleway"/>
              </a:rPr>
              <a:t>Análisis</a:t>
            </a:r>
            <a:r>
              <a:rPr i="1" lang="en-US" sz="2000">
                <a:latin typeface="Raleway"/>
                <a:ea typeface="Raleway"/>
                <a:cs typeface="Raleway"/>
                <a:sym typeface="Raleway"/>
              </a:rPr>
              <a:t> de Datos Intermedio</a:t>
            </a:r>
            <a:endParaRPr i="1" sz="2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sz="2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9" name="Google Shape;419;p10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-US">
                <a:latin typeface="Barlow"/>
                <a:ea typeface="Barlow"/>
                <a:cs typeface="Barlow"/>
                <a:sym typeface="Barlow"/>
              </a:rPr>
              <a:t>Ya conoces todo lo necesario para análisis intermedio de datos.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-US">
                <a:latin typeface="Barlow"/>
                <a:ea typeface="Barlow"/>
                <a:cs typeface="Barlow"/>
                <a:sym typeface="Barlow"/>
              </a:rPr>
              <a:t>Puedes realizar dashboards, análisis de tendencia, correlaciones y KPIs.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-US">
                <a:latin typeface="Barlow"/>
                <a:ea typeface="Barlow"/>
                <a:cs typeface="Barlow"/>
                <a:sym typeface="Barlow"/>
              </a:rPr>
              <a:t>Recomendación: practicar con datos reales de BlueSky para mejorar criterio analítico.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0" name="Google Shape;420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