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Raleway Thin"/>
      <p:regular r:id="rId20"/>
      <p:bold r:id="rId21"/>
      <p:italic r:id="rId22"/>
      <p:boldItalic r:id="rId23"/>
    </p:embeddedFont>
    <p:embeddedFont>
      <p:font typeface="Barlow Ligh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dGMD9gQMWWk5z0gA2RW/o2BHE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Thin-regular.fntdata"/><Relationship Id="rId22" Type="http://schemas.openxmlformats.org/officeDocument/2006/relationships/font" Target="fonts/RalewayThin-italic.fntdata"/><Relationship Id="rId21" Type="http://schemas.openxmlformats.org/officeDocument/2006/relationships/font" Target="fonts/RalewayThin-bold.fntdata"/><Relationship Id="rId24" Type="http://schemas.openxmlformats.org/officeDocument/2006/relationships/font" Target="fonts/BarlowLight-regular.fntdata"/><Relationship Id="rId23" Type="http://schemas.openxmlformats.org/officeDocument/2006/relationships/font" Target="fonts/RalewayThin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BarlowLight-italic.fntdata"/><Relationship Id="rId25" Type="http://schemas.openxmlformats.org/officeDocument/2006/relationships/font" Target="fonts/BarlowLight-bold.fntdata"/><Relationship Id="rId28" Type="http://customschemas.google.com/relationships/presentationmetadata" Target="metadata"/><Relationship Id="rId27" Type="http://schemas.openxmlformats.org/officeDocument/2006/relationships/font" Target="fonts/Barlow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17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7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9" name="Google Shape;19;p18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9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9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25" name="Google Shape;25;p19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1"/>
          <p:cNvGrpSpPr/>
          <p:nvPr/>
        </p:nvGrpSpPr>
        <p:grpSpPr>
          <a:xfrm>
            <a:off x="5122427" y="668001"/>
            <a:ext cx="3841143" cy="3893303"/>
            <a:chOff x="5122427" y="668001"/>
            <a:chExt cx="3841143" cy="3893303"/>
          </a:xfrm>
        </p:grpSpPr>
        <p:grpSp>
          <p:nvGrpSpPr>
            <p:cNvPr id="31" name="Google Shape;31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" name="Google Shape;139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" name="Google Shape;170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71" name="Google Shape;171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9" name="Google Shape;189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" name="Google Shape;220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" name="Google Shape;256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7" name="Google Shape;257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63" name="Google Shape;263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" name="Google Shape;270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71" name="Google Shape;271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" name="Google Shape;297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8" name="Google Shape;298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509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3" name="Google Shape;303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5" name="Google Shape;305;p1"/>
          <p:cNvSpPr txBox="1"/>
          <p:nvPr>
            <p:ph type="ctrTitle"/>
          </p:nvPr>
        </p:nvSpPr>
        <p:spPr>
          <a:xfrm>
            <a:off x="782850" y="107585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4000"/>
              <a:t>Gestión</a:t>
            </a:r>
            <a:br>
              <a:rPr lang="es-ES" sz="4000"/>
            </a:br>
            <a:r>
              <a:rPr lang="es-ES" sz="4000"/>
              <a:t> de proyectos</a:t>
            </a:r>
            <a:br>
              <a:rPr lang="es-ES" sz="4000"/>
            </a:br>
            <a:r>
              <a:rPr lang="es-ES" sz="4000"/>
              <a:t>-</a:t>
            </a:r>
            <a:br>
              <a:rPr lang="es-ES" sz="4000"/>
            </a:br>
            <a:r>
              <a:rPr lang="es-ES" sz="4000"/>
              <a:t>Herramientas claves</a:t>
            </a:r>
            <a:endParaRPr/>
          </a:p>
        </p:txBody>
      </p:sp>
      <p:sp>
        <p:nvSpPr>
          <p:cNvPr id="306" name="Google Shape;306;p1"/>
          <p:cNvSpPr/>
          <p:nvPr/>
        </p:nvSpPr>
        <p:spPr>
          <a:xfrm>
            <a:off x="518627" y="3063754"/>
            <a:ext cx="457200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Portal BlueSky Financial</a:t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Modalidad Online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Duración: 2 horas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Certificación Digital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Objetivo General del Curso</a:t>
            </a:r>
            <a:endParaRPr sz="2800"/>
          </a:p>
        </p:txBody>
      </p:sp>
      <p:sp>
        <p:nvSpPr>
          <p:cNvPr id="312" name="Google Shape;312;p2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600"/>
              <a:t>Comprender el ciclo de vida de un proyecto (inicio, planificación, ejecución, control y cierre).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600"/>
              <a:t>Aplicar herramientas prácticas: WBS, cronograma (Gantt), matriz RACI, matriz de riesgos y reportes ejecutivos.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600"/>
              <a:t>Introducir enfoques ágiles (Kanban/Scrum) para mejorar el seguimiento y la entrega de valor.</a:t>
            </a:r>
            <a:endParaRPr sz="1600"/>
          </a:p>
        </p:txBody>
      </p:sp>
      <p:sp>
        <p:nvSpPr>
          <p:cNvPr id="313" name="Google Shape;313;p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Módulos</a:t>
            </a:r>
            <a:endParaRPr sz="2800"/>
          </a:p>
        </p:txBody>
      </p:sp>
      <p:sp>
        <p:nvSpPr>
          <p:cNvPr id="319" name="Google Shape;319;p3"/>
          <p:cNvSpPr txBox="1"/>
          <p:nvPr/>
        </p:nvSpPr>
        <p:spPr>
          <a:xfrm>
            <a:off x="457199" y="1365504"/>
            <a:ext cx="8783053" cy="3271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1 · Fundamentos y ciclo de vida.</a:t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2 · 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Alcance, tiempo y recursos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3 ·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 Costo, riesgos y calidad.</a:t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4 ·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 Ejecución ágil y seguimiento.</a:t>
            </a:r>
            <a:endParaRPr/>
          </a:p>
        </p:txBody>
      </p:sp>
      <p:grpSp>
        <p:nvGrpSpPr>
          <p:cNvPr id="320" name="Google Shape;320;p3"/>
          <p:cNvGrpSpPr/>
          <p:nvPr/>
        </p:nvGrpSpPr>
        <p:grpSpPr>
          <a:xfrm>
            <a:off x="253860" y="3464041"/>
            <a:ext cx="2706354" cy="1604434"/>
            <a:chOff x="6986665" y="3298709"/>
            <a:chExt cx="1817809" cy="1077669"/>
          </a:xfrm>
        </p:grpSpPr>
        <p:sp>
          <p:nvSpPr>
            <p:cNvPr id="321" name="Google Shape;321;p3"/>
            <p:cNvSpPr/>
            <p:nvPr/>
          </p:nvSpPr>
          <p:spPr>
            <a:xfrm>
              <a:off x="6986665" y="3342725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7014156" y="3327342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7014156" y="3298709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7976493" y="3396565"/>
              <a:ext cx="664692" cy="383742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7912754" y="3450709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7863331" y="3479190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7813984" y="3507747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7451727" y="3699575"/>
              <a:ext cx="664616" cy="38374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7387988" y="3753643"/>
              <a:ext cx="593293" cy="342595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7338565" y="3782200"/>
              <a:ext cx="582091" cy="33604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7289218" y="3810681"/>
              <a:ext cx="496671" cy="286816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7582329" y="3561435"/>
              <a:ext cx="337413" cy="194766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7800200" y="3687162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8018073" y="3812966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7794459" y="3551002"/>
              <a:ext cx="540846" cy="312343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7824798" y="3491907"/>
              <a:ext cx="470058" cy="181410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7794490" y="3623727"/>
              <a:ext cx="41071" cy="82677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8298847" y="3624184"/>
              <a:ext cx="36118" cy="82219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7842237" y="3535238"/>
              <a:ext cx="450190" cy="25984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7815050" y="3673683"/>
              <a:ext cx="491790" cy="17643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7794490" y="3472184"/>
              <a:ext cx="540791" cy="312391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7752377" y="3752957"/>
              <a:ext cx="148970" cy="86030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7787483" y="3773138"/>
              <a:ext cx="113842" cy="106298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7465892" y="3799784"/>
              <a:ext cx="345033" cy="254286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p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Módulo 1 · </a:t>
            </a:r>
            <a:r>
              <a:rPr lang="es-ES" sz="2800">
                <a:solidFill>
                  <a:srgbClr val="007BB9"/>
                </a:solidFill>
              </a:rPr>
              <a:t>Fundamentos y ciclo de vida.</a:t>
            </a:r>
            <a:endParaRPr/>
          </a:p>
        </p:txBody>
      </p:sp>
      <p:sp>
        <p:nvSpPr>
          <p:cNvPr id="353" name="Google Shape;353;p4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Qué es un proyecto: temporal, único, restringido por alcance/tiempo/costo/calidad.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Fases: Inicio → Planificación → Ejecución → Monitoreo/Control → Cierre.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Roles y stakeholders: patrocinador, PM, equipo, clientes, interesados; gobierno del proyecto.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354" name="Google Shape;354;p4"/>
          <p:cNvGrpSpPr/>
          <p:nvPr/>
        </p:nvGrpSpPr>
        <p:grpSpPr>
          <a:xfrm>
            <a:off x="7469529" y="4058067"/>
            <a:ext cx="810809" cy="972165"/>
            <a:chOff x="2152750" y="190500"/>
            <a:chExt cx="4293756" cy="4762499"/>
          </a:xfrm>
        </p:grpSpPr>
        <p:sp>
          <p:nvSpPr>
            <p:cNvPr id="355" name="Google Shape;355;p4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4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4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4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4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4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4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4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4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4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4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4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4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4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4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4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4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4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4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4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4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4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4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4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4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4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4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4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4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4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4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4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4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4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4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4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4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4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4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4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4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4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4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4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4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4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9" name="Google Shape;429;p4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430" name="Google Shape;430;p4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4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4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4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4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4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4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4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4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9" name="Google Shape;439;p4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440" name="Google Shape;440;p4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4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4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4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4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5" name="Google Shape;445;p4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4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4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4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4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4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4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4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4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4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3" name="Google Shape;463;p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Ejemplo Práctico (M1)</a:t>
            </a:r>
            <a:endParaRPr/>
          </a:p>
        </p:txBody>
      </p:sp>
      <p:sp>
        <p:nvSpPr>
          <p:cNvPr id="469" name="Google Shape;469;p5"/>
          <p:cNvSpPr txBox="1"/>
          <p:nvPr>
            <p:ph idx="1" type="body"/>
          </p:nvPr>
        </p:nvSpPr>
        <p:spPr>
          <a:xfrm>
            <a:off x="457200" y="1688300"/>
            <a:ext cx="7489800" cy="29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Caso: Lanzamiento de página de cursos para BlueSky.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Inicio: acta de constitución con objetivo, entregables, presupuesto y riesgos iniciales.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Planificación: definir alcance y cronograma inicial; estimar recursos y costos.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Ejecución/Control: reuniones semanales, control de hitos y cambios.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Cierre: retrospectiva, aceptación formal y lecciones aprendidas.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470" name="Google Shape;470;p5"/>
          <p:cNvGrpSpPr/>
          <p:nvPr/>
        </p:nvGrpSpPr>
        <p:grpSpPr>
          <a:xfrm>
            <a:off x="8117664" y="4070081"/>
            <a:ext cx="880220" cy="894397"/>
            <a:chOff x="2152750" y="190500"/>
            <a:chExt cx="4293756" cy="4762499"/>
          </a:xfrm>
        </p:grpSpPr>
        <p:sp>
          <p:nvSpPr>
            <p:cNvPr id="471" name="Google Shape;471;p5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5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5" name="Google Shape;545;p5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546" name="Google Shape;546;p5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5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p5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" name="Google Shape;549;p5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5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5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5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5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5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5" name="Google Shape;555;p5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556" name="Google Shape;556;p5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5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5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5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5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1" name="Google Shape;561;p5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5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5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5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5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5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5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5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5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5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5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5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5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5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5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9" name="Google Shape;579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Módulo 2: Alcance, Tiempo y Recursos</a:t>
            </a:r>
            <a:endParaRPr sz="2800"/>
          </a:p>
        </p:txBody>
      </p:sp>
      <p:sp>
        <p:nvSpPr>
          <p:cNvPr id="585" name="Google Shape;585;p6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WBS (Work Breakdown Structure): descomposición jerárquica del trabajo en paquetes.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Cronograma (Gantt): dependencias, holguras y noción de ruta crítica.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Matriz RACI: Responsible, Accountable, Consulted, Informed para clarificar responsabilidades.</a:t>
            </a:r>
            <a:endParaRPr/>
          </a:p>
        </p:txBody>
      </p:sp>
      <p:grpSp>
        <p:nvGrpSpPr>
          <p:cNvPr id="586" name="Google Shape;586;p6"/>
          <p:cNvGrpSpPr/>
          <p:nvPr/>
        </p:nvGrpSpPr>
        <p:grpSpPr>
          <a:xfrm>
            <a:off x="6021167" y="3731020"/>
            <a:ext cx="1500288" cy="1261560"/>
            <a:chOff x="1926580" y="602477"/>
            <a:chExt cx="4456273" cy="4762466"/>
          </a:xfrm>
        </p:grpSpPr>
        <p:sp>
          <p:nvSpPr>
            <p:cNvPr id="587" name="Google Shape;587;p6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6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6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6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6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6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6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6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6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6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6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6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6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6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6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6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6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6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6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6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6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6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6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6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6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6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6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6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6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6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6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6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6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6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6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6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6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6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6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6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6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6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6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6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6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6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6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6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6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6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6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6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6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6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6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6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6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6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6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6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6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6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6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6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6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6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6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6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6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6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6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6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6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6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6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6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6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6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6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6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6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6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6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6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3" name="Google Shape;733;p6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734" name="Google Shape;734;p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39" name="Google Shape;739;p6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6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1" name="Google Shape;741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Ejercicio Guiado: Construcción de WBS</a:t>
            </a:r>
            <a:endParaRPr sz="2800"/>
          </a:p>
        </p:txBody>
      </p:sp>
      <p:sp>
        <p:nvSpPr>
          <p:cNvPr id="747" name="Google Shape;747;p7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Nivel 1: Proyecto “Portal de Capacitaciones”.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Nivel 2: Front‑end, Back‑end, Integración de pagos, Contenidos, QA, Despliegue.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Nivel 3 (ej.): Front‑end → Home, Catálogo cursos, Detalle curso, Evaluaciones, Certificados.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Salida: diagrama WBS + diccionario (definición de cada paquete de trabajo).</a:t>
            </a:r>
            <a:endParaRPr/>
          </a:p>
        </p:txBody>
      </p:sp>
      <p:grpSp>
        <p:nvGrpSpPr>
          <p:cNvPr id="748" name="Google Shape;748;p7"/>
          <p:cNvGrpSpPr/>
          <p:nvPr/>
        </p:nvGrpSpPr>
        <p:grpSpPr>
          <a:xfrm>
            <a:off x="6392231" y="1041215"/>
            <a:ext cx="1109854" cy="1112538"/>
            <a:chOff x="1926580" y="602477"/>
            <a:chExt cx="4456273" cy="4762466"/>
          </a:xfrm>
        </p:grpSpPr>
        <p:sp>
          <p:nvSpPr>
            <p:cNvPr id="749" name="Google Shape;749;p7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7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7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7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7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7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7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7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7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7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7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7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7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7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7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7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7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7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7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7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7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7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7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7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7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7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7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7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7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7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7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7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7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7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7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7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7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7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7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7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7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7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7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7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7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7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7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7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7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7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7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7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7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7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7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7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7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7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7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7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7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7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7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7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7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7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7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7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7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7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7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7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7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7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7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7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7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7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7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7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7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7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7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7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7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7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7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7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7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7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7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7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7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7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7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7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7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7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7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7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7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7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7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7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7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7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7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7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7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7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7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7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7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7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7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7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7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7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7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7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7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7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7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7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7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7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7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7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7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7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7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7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7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7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7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7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7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7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5" name="Google Shape;895;p7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896" name="Google Shape;896;p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1" name="Google Shape;901;p7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7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3" name="Google Shape;903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Ejercicio Guiado: Cronograma (Gantt)</a:t>
            </a:r>
            <a:endParaRPr sz="2800"/>
          </a:p>
        </p:txBody>
      </p:sp>
      <p:sp>
        <p:nvSpPr>
          <p:cNvPr id="909" name="Google Shape;909;p8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Identificar dependencias: Diseño UI → Desarrollo Front → QA → Despliegue.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Duraciones estimadas y holguras; hitos: “MVP listo”, “Pago integrado”, “Go‑Live”.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Noción de ruta crítica: tareas sin holgura que determinan la fecha de fin.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Salida: cronograma en Excel/Sheets con barras de Gantt simples.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910" name="Google Shape;910;p8"/>
          <p:cNvGrpSpPr/>
          <p:nvPr/>
        </p:nvGrpSpPr>
        <p:grpSpPr>
          <a:xfrm>
            <a:off x="4020614" y="800934"/>
            <a:ext cx="1126831" cy="1134746"/>
            <a:chOff x="1926580" y="602477"/>
            <a:chExt cx="4456273" cy="4762466"/>
          </a:xfrm>
        </p:grpSpPr>
        <p:sp>
          <p:nvSpPr>
            <p:cNvPr id="911" name="Google Shape;911;p8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8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8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8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8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8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8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8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8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8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8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8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8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8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8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8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8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8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8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8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8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8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8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8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8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8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8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8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8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8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8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8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8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8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8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8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8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8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8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8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8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8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8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8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8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8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8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8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8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8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8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8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8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8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8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8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8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8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8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8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8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8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8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8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8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8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8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8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8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8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8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8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8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8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8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8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8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8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8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8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8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8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8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8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8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8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8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8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8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8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8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8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8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8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8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8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8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8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8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8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8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8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8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8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8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8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8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8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8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8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8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8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8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8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8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8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8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8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8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8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8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8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8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8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8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8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8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8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8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8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8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8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8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8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8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8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8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8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8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8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8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8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57" name="Google Shape;1057;p8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1058" name="Google Shape;1058;p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63" name="Google Shape;1063;p8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8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5" name="Google Shape;1065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9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Ejercicio Guiado: Matriz RACI</a:t>
            </a:r>
            <a:endParaRPr sz="2800"/>
          </a:p>
        </p:txBody>
      </p:sp>
      <p:sp>
        <p:nvSpPr>
          <p:cNvPr id="1071" name="Google Shape;1071;p9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Definir roles: Sponsor, PM, UX, Dev, QA, Finanzas, Soporte.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Asignar R/A/C/I por entregable: Acta, WBS, Gantt, Integración pagos, QA, Reporte cierre.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Validar: cada entregable con un solo Accountable (A) y responsables claros (R).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Salida: plantilla RACI completada y aprobada por el equipo.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1072" name="Google Shape;1072;p9"/>
          <p:cNvGrpSpPr/>
          <p:nvPr/>
        </p:nvGrpSpPr>
        <p:grpSpPr>
          <a:xfrm>
            <a:off x="4097492" y="867622"/>
            <a:ext cx="949014" cy="1080372"/>
            <a:chOff x="1926580" y="602477"/>
            <a:chExt cx="4456273" cy="4762466"/>
          </a:xfrm>
        </p:grpSpPr>
        <p:sp>
          <p:nvSpPr>
            <p:cNvPr id="1073" name="Google Shape;1073;p9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9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9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9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9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9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9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9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9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9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9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9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9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9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9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9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9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9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9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9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9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9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9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9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9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9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9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9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9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9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9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9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9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9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9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9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9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9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9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9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9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9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9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9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9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9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9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9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9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9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9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9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9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9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9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9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9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9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9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9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9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9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9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9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9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9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9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9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9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9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9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9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9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9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9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9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9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9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9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9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9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9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9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9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9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9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9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9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9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9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9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9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9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9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9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9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9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9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9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9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9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9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9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9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9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9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9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9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9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9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9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9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9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9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9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9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9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9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9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9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9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9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9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9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9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9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9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9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9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9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9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9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9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9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9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9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9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9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9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9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9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9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9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9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9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9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19" name="Google Shape;1219;p9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1220" name="Google Shape;1220;p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25" name="Google Shape;1225;p9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9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7" name="Google Shape;1227;p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0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Módulo 3:</a:t>
            </a:r>
            <a:r>
              <a:rPr lang="es-ES" sz="2800">
                <a:solidFill>
                  <a:srgbClr val="007BB9"/>
                </a:solidFill>
              </a:rPr>
              <a:t> Costo, riesgos y calidad.</a:t>
            </a:r>
            <a:br>
              <a:rPr lang="es-ES" sz="2800">
                <a:solidFill>
                  <a:srgbClr val="007BB9"/>
                </a:solidFill>
              </a:rPr>
            </a:br>
            <a:endParaRPr sz="2800"/>
          </a:p>
        </p:txBody>
      </p:sp>
      <p:sp>
        <p:nvSpPr>
          <p:cNvPr id="1233" name="Google Shape;1233;p10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Costos: partidas (HH, licencias, infraestructura), reservas para contingencias y control del presupuesto.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Riesgos: matriz P×I (probabilidad x impacto), respuesta (evitar, mitigar, transferir, aceptar) y dueños.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Calidad: criterios de aceptación y checklists de pruebas/validación.</a:t>
            </a:r>
            <a:endParaRPr/>
          </a:p>
        </p:txBody>
      </p:sp>
      <p:grpSp>
        <p:nvGrpSpPr>
          <p:cNvPr id="1234" name="Google Shape;1234;p10"/>
          <p:cNvGrpSpPr/>
          <p:nvPr/>
        </p:nvGrpSpPr>
        <p:grpSpPr>
          <a:xfrm>
            <a:off x="7361407" y="3331430"/>
            <a:ext cx="1782593" cy="1812070"/>
            <a:chOff x="2011725" y="44285"/>
            <a:chExt cx="4684870" cy="4762340"/>
          </a:xfrm>
        </p:grpSpPr>
        <p:grpSp>
          <p:nvGrpSpPr>
            <p:cNvPr id="1235" name="Google Shape;1235;p10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1236" name="Google Shape;1236;p10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10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10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10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10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10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10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10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10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10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10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10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10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10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10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10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10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10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10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10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10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10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10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9" name="Google Shape;1259;p10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p10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1" name="Google Shape;1261;p10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p10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10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4" name="Google Shape;1264;p10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5" name="Google Shape;1265;p10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6" name="Google Shape;1266;p10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7" name="Google Shape;1267;p10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8" name="Google Shape;1268;p10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9" name="Google Shape;1269;p10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10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10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10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10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10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10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10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10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10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10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10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1" name="Google Shape;1281;p10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2" name="Google Shape;1282;p10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10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4" name="Google Shape;1284;p10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10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10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10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10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10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10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10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10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10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10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10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10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10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10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10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10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10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10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10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10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10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10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10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10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10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10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10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10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10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10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10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10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10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10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10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10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10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10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10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10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10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10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10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10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10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10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10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10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0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0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10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0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10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10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10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10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10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10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3" name="Google Shape;1343;p10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10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0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10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10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10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10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10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10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10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10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10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10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10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10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10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10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10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10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10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10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10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10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10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10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10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10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10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1371;p10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10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10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10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10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10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10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10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10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10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10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10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0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10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10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10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10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10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10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10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10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10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10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10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10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10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10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10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10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10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10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10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10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10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10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10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10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10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10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10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10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10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10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10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10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10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10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10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10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10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10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10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10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10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10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10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10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10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10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10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10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10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10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10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10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10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10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10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10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10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10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10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10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10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10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10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10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10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10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10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10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10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10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10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10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10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10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10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10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10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10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10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10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10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10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10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10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10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10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10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10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10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10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10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10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10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10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10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10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10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10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10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10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84" name="Google Shape;1484;p10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1485" name="Google Shape;1485;p10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6" name="Google Shape;1486;p10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7" name="Google Shape;1487;p10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8" name="Google Shape;1488;p10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9" name="Google Shape;1489;p10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0" name="Google Shape;1490;p10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1491" name="Google Shape;1491;p10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2" name="Google Shape;1492;p10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10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10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5" name="Google Shape;1495;p10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96" name="Google Shape;1496;p10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10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98" name="Google Shape;1498;p10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1499" name="Google Shape;1499;p10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0" name="Google Shape;1500;p10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10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2" name="Google Shape;1502;p10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3" name="Google Shape;1503;p10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4" name="Google Shape;1504;p10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10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6" name="Google Shape;1506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Ejercicio: Matriz de Riesgos</a:t>
            </a:r>
            <a:endParaRPr sz="2800"/>
          </a:p>
        </p:txBody>
      </p:sp>
      <p:sp>
        <p:nvSpPr>
          <p:cNvPr id="1512" name="Google Shape;1512;p11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Identificar 5 riesgos: atraso proveedor, fuga de alcance, baja adopción, falla de integración, dependencia externa.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Evaluar P×I y priorizar (alto/medio/bajo).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Plan de respuesta + trigger + dueño + fecha de revisión.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Salida: matriz de riesgos y registro de issues/acciones.</a:t>
            </a:r>
            <a:endParaRPr/>
          </a:p>
        </p:txBody>
      </p:sp>
      <p:grpSp>
        <p:nvGrpSpPr>
          <p:cNvPr id="1513" name="Google Shape;1513;p11"/>
          <p:cNvGrpSpPr/>
          <p:nvPr/>
        </p:nvGrpSpPr>
        <p:grpSpPr>
          <a:xfrm>
            <a:off x="7361407" y="3331430"/>
            <a:ext cx="1782593" cy="1812070"/>
            <a:chOff x="2011725" y="44285"/>
            <a:chExt cx="4684870" cy="4762340"/>
          </a:xfrm>
        </p:grpSpPr>
        <p:grpSp>
          <p:nvGrpSpPr>
            <p:cNvPr id="1514" name="Google Shape;1514;p11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1515" name="Google Shape;1515;p1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6" name="Google Shape;1516;p1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7" name="Google Shape;1517;p1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8" name="Google Shape;1518;p1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9" name="Google Shape;1519;p1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0" name="Google Shape;1520;p1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1" name="Google Shape;1521;p1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2" name="Google Shape;1522;p1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3" name="Google Shape;1523;p1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4" name="Google Shape;1524;p1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5" name="Google Shape;1525;p1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6" name="Google Shape;1526;p1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7" name="Google Shape;1527;p1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8" name="Google Shape;1528;p1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9" name="Google Shape;1529;p1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0" name="Google Shape;1530;p1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1" name="Google Shape;1531;p1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2" name="Google Shape;1532;p1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3" name="Google Shape;1533;p1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1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1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1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1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8" name="Google Shape;1538;p1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9" name="Google Shape;1539;p1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0" name="Google Shape;1540;p1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1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1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3" name="Google Shape;1543;p1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4" name="Google Shape;1544;p1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5" name="Google Shape;1545;p1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6" name="Google Shape;1546;p1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7" name="Google Shape;1547;p1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8" name="Google Shape;1548;p1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1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1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1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2" name="Google Shape;1552;p1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3" name="Google Shape;1553;p1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4" name="Google Shape;1554;p1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5" name="Google Shape;1555;p1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6" name="Google Shape;1556;p1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7" name="Google Shape;1557;p1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8" name="Google Shape;1558;p1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9" name="Google Shape;1559;p1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0" name="Google Shape;1560;p1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1" name="Google Shape;1561;p1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2" name="Google Shape;1562;p1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3" name="Google Shape;1563;p1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4" name="Google Shape;1564;p1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5" name="Google Shape;1565;p1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6" name="Google Shape;1566;p1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7" name="Google Shape;1567;p1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568;p1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9" name="Google Shape;1569;p1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0" name="Google Shape;1570;p1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1" name="Google Shape;1571;p1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2" name="Google Shape;1572;p1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3" name="Google Shape;1573;p1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4" name="Google Shape;1574;p1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5" name="Google Shape;1575;p1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6" name="Google Shape;1576;p1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7" name="Google Shape;1577;p1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1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1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1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1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1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3" name="Google Shape;1583;p1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584;p1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1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1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7" name="Google Shape;1587;p1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8" name="Google Shape;1588;p1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9" name="Google Shape;1589;p1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0" name="Google Shape;1590;p1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1" name="Google Shape;1591;p1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2" name="Google Shape;1592;p1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3" name="Google Shape;1593;p1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4" name="Google Shape;1594;p1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5" name="Google Shape;1595;p1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6" name="Google Shape;1596;p1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7" name="Google Shape;1597;p1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8" name="Google Shape;1598;p1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9" name="Google Shape;1599;p1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0" name="Google Shape;1600;p1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1" name="Google Shape;1601;p1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2" name="Google Shape;1602;p1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3" name="Google Shape;1603;p1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4" name="Google Shape;1604;p1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5" name="Google Shape;1605;p1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6" name="Google Shape;1606;p1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7" name="Google Shape;1607;p1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8" name="Google Shape;1608;p1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9" name="Google Shape;1609;p1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0" name="Google Shape;1610;p1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1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1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3" name="Google Shape;1613;p1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4" name="Google Shape;1614;p1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1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1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7" name="Google Shape;1617;p1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1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9" name="Google Shape;1619;p1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0" name="Google Shape;1620;p1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1" name="Google Shape;1621;p1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22" name="Google Shape;1622;p11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11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11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1625;p11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11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11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11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11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11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11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11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1633;p11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1634;p11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1635;p11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6" name="Google Shape;1636;p11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1637;p11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8" name="Google Shape;1638;p11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9" name="Google Shape;1639;p11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0" name="Google Shape;1640;p11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1641;p11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1642;p11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11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4" name="Google Shape;1644;p11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5" name="Google Shape;1645;p11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6" name="Google Shape;1646;p11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7" name="Google Shape;1647;p11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8" name="Google Shape;1648;p11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9" name="Google Shape;1649;p11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0" name="Google Shape;1650;p11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1" name="Google Shape;1651;p11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2" name="Google Shape;1652;p11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11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11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11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11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11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11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11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11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11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p11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1663;p11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1664;p11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p11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1666;p11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11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11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1669;p11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11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11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11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11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11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11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11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11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11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11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11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11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11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11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11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11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11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11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11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11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11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11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11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11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11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11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11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11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11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11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11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11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11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11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11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11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11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11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11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11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11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11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11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11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11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11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11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11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11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11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11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11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11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11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11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11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11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11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11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11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11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11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11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11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11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11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11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11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11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11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11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11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11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11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11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11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11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11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11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11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11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11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11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11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4" name="Google Shape;1754;p11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11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11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11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11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11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11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1" name="Google Shape;1761;p11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11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63" name="Google Shape;1763;p11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1764" name="Google Shape;1764;p1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5" name="Google Shape;1765;p1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6" name="Google Shape;1766;p1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7" name="Google Shape;1767;p1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8" name="Google Shape;1768;p1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9" name="Google Shape;1769;p11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1770" name="Google Shape;1770;p1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1771;p1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1772;p1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3" name="Google Shape;1773;p1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4" name="Google Shape;1774;p1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75" name="Google Shape;1775;p11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11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77" name="Google Shape;1777;p11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1778" name="Google Shape;1778;p1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1779;p1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1780;p1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1" name="Google Shape;1781;p1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2" name="Google Shape;1782;p1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83" name="Google Shape;1783;p11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11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5" name="Google Shape;1785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1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Módulo 4 · </a:t>
            </a:r>
            <a:r>
              <a:rPr lang="es-ES" sz="2800">
                <a:solidFill>
                  <a:srgbClr val="007BB9"/>
                </a:solidFill>
              </a:rPr>
              <a:t>Ejecución ágil y seguimiento.</a:t>
            </a:r>
            <a:endParaRPr sz="2800"/>
          </a:p>
        </p:txBody>
      </p:sp>
      <p:sp>
        <p:nvSpPr>
          <p:cNvPr id="1791" name="Google Shape;1791;p12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Kanban: visualizar flujo, limitar WIP, pulso diario; métricas de ciclo y throughput.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Scrum (nociones): backlog, sprints, planning, daily, review, retrospective.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Indicadores: % avance, cumplimento de hitos, burn‑down y bloqueos críticos.</a:t>
            </a:r>
            <a:endParaRPr/>
          </a:p>
        </p:txBody>
      </p:sp>
      <p:grpSp>
        <p:nvGrpSpPr>
          <p:cNvPr id="1792" name="Google Shape;1792;p12"/>
          <p:cNvGrpSpPr/>
          <p:nvPr/>
        </p:nvGrpSpPr>
        <p:grpSpPr>
          <a:xfrm>
            <a:off x="7571501" y="3565640"/>
            <a:ext cx="1407494" cy="1561150"/>
            <a:chOff x="2152750" y="190500"/>
            <a:chExt cx="4293756" cy="4762499"/>
          </a:xfrm>
        </p:grpSpPr>
        <p:sp>
          <p:nvSpPr>
            <p:cNvPr id="1793" name="Google Shape;1793;p12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4" name="Google Shape;1794;p12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12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6" name="Google Shape;1796;p12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12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8" name="Google Shape;1798;p12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12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12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12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2" name="Google Shape;1802;p12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12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4" name="Google Shape;1804;p12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5" name="Google Shape;1805;p12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6" name="Google Shape;1806;p12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7" name="Google Shape;1807;p12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8" name="Google Shape;1808;p12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9" name="Google Shape;1809;p12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0" name="Google Shape;1810;p12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12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12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12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12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5" name="Google Shape;1815;p12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12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12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12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12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12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12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12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3" name="Google Shape;1823;p12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12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12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12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2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2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2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2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2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2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2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2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2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2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2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2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2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2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12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2" name="Google Shape;1842;p12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12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4" name="Google Shape;1844;p12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12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12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12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12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9" name="Google Shape;1849;p12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12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1" name="Google Shape;1851;p12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2" name="Google Shape;1852;p12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" name="Google Shape;1853;p12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" name="Google Shape;1854;p12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12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1856;p12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1857;p12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8" name="Google Shape;1858;p12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9" name="Google Shape;1859;p12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0" name="Google Shape;1860;p12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1" name="Google Shape;1861;p12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1862;p12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12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12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12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12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67" name="Google Shape;1867;p12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1868" name="Google Shape;1868;p12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9" name="Google Shape;1869;p12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0" name="Google Shape;1870;p12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1" name="Google Shape;1871;p12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2" name="Google Shape;1872;p12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3" name="Google Shape;1873;p12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4" name="Google Shape;1874;p12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5" name="Google Shape;1875;p12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12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7" name="Google Shape;1877;p12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1878" name="Google Shape;1878;p1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9" name="Google Shape;1879;p1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0" name="Google Shape;1880;p1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1" name="Google Shape;1881;p1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2" name="Google Shape;1882;p1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83" name="Google Shape;1883;p12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4" name="Google Shape;1884;p12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5" name="Google Shape;1885;p12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6" name="Google Shape;1886;p12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7" name="Google Shape;1887;p12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8" name="Google Shape;1888;p12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9" name="Google Shape;1889;p12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0" name="Google Shape;1890;p12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1" name="Google Shape;1891;p12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2" name="Google Shape;1892;p12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3" name="Google Shape;1893;p12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4" name="Google Shape;1894;p12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5" name="Google Shape;1895;p12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6" name="Google Shape;1896;p12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897;p12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8" name="Google Shape;1898;p12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9" name="Google Shape;1899;p12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0" name="Google Shape;1900;p12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1" name="Google Shape;1901;p1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1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Ejercicio: Tablero Ágil y Reporte Ejecutivo</a:t>
            </a:r>
            <a:endParaRPr sz="2800"/>
          </a:p>
        </p:txBody>
      </p:sp>
      <p:sp>
        <p:nvSpPr>
          <p:cNvPr id="1907" name="Google Shape;1907;p13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Crear tablero en Trello/Asana con listas: Backlog, En curso, En QA, Hecho.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Definir criterios de “Listo” (DoD) y reglas WIP.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Reporte ejecutivo semanal: estado semáforo, hitos, riesgos/top 3, decisiones, próximos pasos.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Salida: tablero compartido + reporte PDF con checklist de cierre semanal.</a:t>
            </a:r>
            <a:endParaRPr/>
          </a:p>
        </p:txBody>
      </p:sp>
      <p:grpSp>
        <p:nvGrpSpPr>
          <p:cNvPr id="1908" name="Google Shape;1908;p13"/>
          <p:cNvGrpSpPr/>
          <p:nvPr/>
        </p:nvGrpSpPr>
        <p:grpSpPr>
          <a:xfrm>
            <a:off x="7571501" y="3585117"/>
            <a:ext cx="1407494" cy="1561150"/>
            <a:chOff x="2152750" y="190500"/>
            <a:chExt cx="4293756" cy="4762499"/>
          </a:xfrm>
        </p:grpSpPr>
        <p:sp>
          <p:nvSpPr>
            <p:cNvPr id="1909" name="Google Shape;1909;p13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13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3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2" name="Google Shape;1912;p13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3" name="Google Shape;1913;p13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4" name="Google Shape;1914;p13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5" name="Google Shape;1915;p13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6" name="Google Shape;1916;p13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7" name="Google Shape;1917;p13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8" name="Google Shape;1918;p13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9" name="Google Shape;1919;p13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0" name="Google Shape;1920;p13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1" name="Google Shape;1921;p13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2" name="Google Shape;1922;p13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3" name="Google Shape;1923;p13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4" name="Google Shape;1924;p13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5" name="Google Shape;1925;p13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6" name="Google Shape;1926;p13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13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13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13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13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13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13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13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4" name="Google Shape;1934;p13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13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6" name="Google Shape;1936;p13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7" name="Google Shape;1937;p13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8" name="Google Shape;1938;p13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9" name="Google Shape;1939;p13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0" name="Google Shape;1940;p13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13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2" name="Google Shape;1942;p13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3" name="Google Shape;1943;p13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4" name="Google Shape;1944;p13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5" name="Google Shape;1945;p13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6" name="Google Shape;1946;p13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7" name="Google Shape;1947;p13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13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9" name="Google Shape;1949;p13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13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13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13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13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13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13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6" name="Google Shape;1956;p13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7" name="Google Shape;1957;p13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8" name="Google Shape;1958;p13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13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0" name="Google Shape;1960;p13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1" name="Google Shape;1961;p13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2" name="Google Shape;1962;p13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3" name="Google Shape;1963;p13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4" name="Google Shape;1964;p13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5" name="Google Shape;1965;p13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6" name="Google Shape;1966;p13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7" name="Google Shape;1967;p13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8" name="Google Shape;1968;p13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13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13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13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13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13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4" name="Google Shape;1974;p13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5" name="Google Shape;1975;p13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13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13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1978;p13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1979;p13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13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13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13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83" name="Google Shape;1983;p13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1984" name="Google Shape;1984;p13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5" name="Google Shape;1985;p13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6" name="Google Shape;1986;p13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7" name="Google Shape;1987;p13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8" name="Google Shape;1988;p13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9" name="Google Shape;1989;p13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0" name="Google Shape;1990;p13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1" name="Google Shape;1991;p13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2" name="Google Shape;1992;p13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93" name="Google Shape;1993;p13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1994" name="Google Shape;1994;p13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5" name="Google Shape;1995;p13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6" name="Google Shape;1996;p13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7" name="Google Shape;1997;p13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8" name="Google Shape;1998;p13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99" name="Google Shape;1999;p13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13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1" name="Google Shape;2001;p13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2" name="Google Shape;2002;p13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3" name="Google Shape;2003;p13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4" name="Google Shape;2004;p13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5" name="Google Shape;2005;p13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6" name="Google Shape;2006;p13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7" name="Google Shape;2007;p13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8" name="Google Shape;2008;p13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9" name="Google Shape;2009;p13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0" name="Google Shape;2010;p13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1" name="Google Shape;2011;p13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2" name="Google Shape;2012;p13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3" name="Google Shape;2013;p13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4" name="Google Shape;2014;p13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5" name="Google Shape;2015;p13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6" name="Google Shape;2016;p13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7" name="Google Shape;2017;p1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1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Cierre del Proyecto y </a:t>
            </a:r>
            <a:endParaRPr sz="28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Lecciones Aprendidas</a:t>
            </a:r>
            <a:endParaRPr sz="2800"/>
          </a:p>
        </p:txBody>
      </p:sp>
      <p:sp>
        <p:nvSpPr>
          <p:cNvPr id="2023" name="Google Shape;2023;p14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Validación de alcance y aceptación formal por el cliente/patrocinador.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Revisión de objetivos, métricas y presupuesto ejecutado vs. plan.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Lecciones aprendidas y mejoras para el siguiente proyecto.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Archivo y traspaso de documentación; plan de soporte/operación.</a:t>
            </a:r>
            <a:endParaRPr/>
          </a:p>
        </p:txBody>
      </p:sp>
      <p:grpSp>
        <p:nvGrpSpPr>
          <p:cNvPr id="2024" name="Google Shape;2024;p14"/>
          <p:cNvGrpSpPr/>
          <p:nvPr/>
        </p:nvGrpSpPr>
        <p:grpSpPr>
          <a:xfrm>
            <a:off x="7571501" y="3585117"/>
            <a:ext cx="1407494" cy="1561150"/>
            <a:chOff x="2152750" y="190500"/>
            <a:chExt cx="4293756" cy="4762499"/>
          </a:xfrm>
        </p:grpSpPr>
        <p:sp>
          <p:nvSpPr>
            <p:cNvPr id="2025" name="Google Shape;2025;p14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14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14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14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14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14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14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2" name="Google Shape;2032;p14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3" name="Google Shape;2033;p14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4" name="Google Shape;2034;p14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5" name="Google Shape;2035;p14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6" name="Google Shape;2036;p14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14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8" name="Google Shape;2038;p14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9" name="Google Shape;2039;p14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0" name="Google Shape;2040;p14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14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14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14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4" name="Google Shape;2044;p14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5" name="Google Shape;2045;p14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046;p14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14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14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14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14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1" name="Google Shape;2051;p14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2" name="Google Shape;2052;p14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3" name="Google Shape;2053;p14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4" name="Google Shape;2054;p14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5" name="Google Shape;2055;p14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6" name="Google Shape;2056;p14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14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14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9" name="Google Shape;2059;p14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60;p14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61;p14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14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p14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14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14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66;p14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7" name="Google Shape;2067;p14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8" name="Google Shape;2068;p14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9" name="Google Shape;2069;p14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0" name="Google Shape;2070;p14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1" name="Google Shape;2071;p14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2" name="Google Shape;2072;p14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3" name="Google Shape;2073;p14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14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p14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14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14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8" name="Google Shape;2078;p14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14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14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14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14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14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14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14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14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14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14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14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14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14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14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14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14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5" name="Google Shape;2095;p14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14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14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14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99" name="Google Shape;2099;p14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2100" name="Google Shape;2100;p14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1" name="Google Shape;2101;p14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2" name="Google Shape;2102;p14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3" name="Google Shape;2103;p14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4" name="Google Shape;2104;p14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5" name="Google Shape;2105;p14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6" name="Google Shape;2106;p14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7" name="Google Shape;2107;p14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8" name="Google Shape;2108;p14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9" name="Google Shape;2109;p14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2110" name="Google Shape;2110;p14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1" name="Google Shape;2111;p14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2" name="Google Shape;2112;p14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3" name="Google Shape;2113;p14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4" name="Google Shape;2114;p14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15" name="Google Shape;2115;p14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14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7" name="Google Shape;2117;p14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14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14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14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14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14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14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14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14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14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14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8" name="Google Shape;2128;p14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9" name="Google Shape;2129;p14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14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14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2" name="Google Shape;2132;p14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3" name="Google Shape;2133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15"/>
          <p:cNvSpPr txBox="1"/>
          <p:nvPr>
            <p:ph type="title"/>
          </p:nvPr>
        </p:nvSpPr>
        <p:spPr>
          <a:xfrm>
            <a:off x="457200" y="605600"/>
            <a:ext cx="56409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Conclusión</a:t>
            </a:r>
            <a:endParaRPr sz="2800"/>
          </a:p>
        </p:txBody>
      </p:sp>
      <p:sp>
        <p:nvSpPr>
          <p:cNvPr id="2139" name="Google Shape;2139;p15"/>
          <p:cNvSpPr txBox="1"/>
          <p:nvPr>
            <p:ph idx="1" type="body"/>
          </p:nvPr>
        </p:nvSpPr>
        <p:spPr>
          <a:xfrm>
            <a:off x="457200" y="1034977"/>
            <a:ext cx="7914600" cy="3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Un buen proyecto se construye con claridad de alcance, cronograma realista y responsables definidos.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El seguimiento constante (métricas + tableros) permite anticipar riesgos y asegurar el valor.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Las plantillas y prácticas vistas te dan un punto de partida repetible y mejorable.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La mejora continua y la comunicación efectiva son la base del éxito sostenido.</a:t>
            </a:r>
            <a:endParaRPr/>
          </a:p>
        </p:txBody>
      </p:sp>
      <p:sp>
        <p:nvSpPr>
          <p:cNvPr id="2140" name="Google Shape;2140;p1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DMS</dc:creator>
</cp:coreProperties>
</file>